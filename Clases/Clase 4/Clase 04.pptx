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k+zW83UeUJZco2x6/FK8pb8U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525002-BF04-401B-A05A-AD5E5B36B747}">
  <a:tblStyle styleId="{A8525002-BF04-401B-A05A-AD5E5B36B74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" name="Google Shape;5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6" name="Google Shape;16;p2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5" name="Google Shape;25;p28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28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28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0" name="Google Shape;30;p29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1" name="Google Shape;31;p29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32" name="Google Shape;32;p29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</p:sp>
      <p:sp>
        <p:nvSpPr>
          <p:cNvPr id="35" name="Google Shape;35;p30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</p:sp>
      <p:sp>
        <p:nvSpPr>
          <p:cNvPr id="38" name="Google Shape;38;p31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31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31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6" name="Google Shape;46;p33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7" name="Google Shape;47;p33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8" name="Google Shape;48;p33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9" name="Google Shape;49;p33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4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4" name="Google Shape;54;p34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5" name="Google Shape;55;p34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34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7" name="Google Shape;57;p3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0" name="Google Shape;60;p35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8627"/>
              </a:srgbClr>
            </a:outerShdw>
          </a:effectLst>
        </p:spPr>
      </p:sp>
      <p:sp>
        <p:nvSpPr>
          <p:cNvPr id="67" name="Google Shape;67;p38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70" name="Google Shape;70;p39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39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40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40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40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40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8" name="Google Shape;78;p40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9" name="Google Shape;79;p40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0" name="Google Shape;80;p40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1" name="Google Shape;81;p4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41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41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41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41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9" name="Google Shape;89;p41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0" name="Google Shape;90;p41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1" name="Google Shape;91;p41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4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2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42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42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42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42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42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1" name="Google Shape;101;p42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2" name="Google Shape;102;p42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3" name="Google Shape;103;p42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42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3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43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43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0" name="Google Shape;110;p43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1" name="Google Shape;111;p43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43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43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6" name="Google Shape;116;p44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7" name="Google Shape;117;p44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4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</p:sp>
      <p:sp>
        <p:nvSpPr>
          <p:cNvPr id="119" name="Google Shape;119;p44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44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5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5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45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5" name="Google Shape;125;p45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6" name="Google Shape;126;p45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7" name="Google Shape;127;p45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8" name="Google Shape;128;p45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6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6" name="Google Shape;136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9" name="Google Shape;269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1"/>
          <p:cNvGrpSpPr/>
          <p:nvPr/>
        </p:nvGrpSpPr>
        <p:grpSpPr>
          <a:xfrm>
            <a:off x="1067655" y="3842795"/>
            <a:ext cx="3235325" cy="2163867"/>
            <a:chOff x="1067655" y="3842795"/>
            <a:chExt cx="3235325" cy="1826757"/>
          </a:xfrm>
        </p:grpSpPr>
        <p:sp>
          <p:nvSpPr>
            <p:cNvPr id="272" name="Google Shape;272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8627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Elementos básicos de la programación: Lectura de Archivos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 txBox="1"/>
            <p:nvPr/>
          </p:nvSpPr>
          <p:spPr>
            <a:xfrm>
              <a:off x="1211178" y="3857269"/>
              <a:ext cx="981039" cy="1138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CL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Objetivos</a:t>
            </a:r>
            <a:endParaRPr/>
          </a:p>
        </p:txBody>
      </p:sp>
      <p:sp>
        <p:nvSpPr>
          <p:cNvPr id="279" name="Google Shape;279;p2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1104899" y="1702676"/>
            <a:ext cx="9982202" cy="682625"/>
          </a:xfrm>
          <a:prstGeom prst="roundRect">
            <a:avLst>
              <a:gd fmla="val 223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Comprender cómo leer archivos de texto.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1104899" y="2631453"/>
            <a:ext cx="9982202" cy="1220112"/>
          </a:xfrm>
          <a:prstGeom prst="roundRect">
            <a:avLst>
              <a:gd fmla="val 14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los conceptos de lectura a archivos con diferente estructura.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/>
          <p:nvPr/>
        </p:nvSpPr>
        <p:spPr>
          <a:xfrm>
            <a:off x="1104899" y="4050669"/>
            <a:ext cx="9982202" cy="1596163"/>
          </a:xfrm>
          <a:prstGeom prst="roundRect">
            <a:avLst>
              <a:gd fmla="val 123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los conceptos aprendidos en el desarrollo de problemas que requieran la obtención de datos a través de archivos de texto para su solución.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"/>
          <p:cNvSpPr/>
          <p:nvPr/>
        </p:nvSpPr>
        <p:spPr>
          <a:xfrm>
            <a:off x="5943600" y="3756654"/>
            <a:ext cx="5425440" cy="2478441"/>
          </a:xfrm>
          <a:prstGeom prst="roundRect">
            <a:avLst>
              <a:gd fmla="val 129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Importante: </a:t>
            </a: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recuerda que la función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guarda todos los datos ingresados por el usuario como texto, es decir, valores de tipo </a:t>
            </a:r>
            <a:r>
              <a:rPr b="1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String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Lectura de datos desde teclado</a:t>
            </a:r>
            <a:endParaRPr/>
          </a:p>
        </p:txBody>
      </p:sp>
      <p:sp>
        <p:nvSpPr>
          <p:cNvPr id="289" name="Google Shape;289;p3"/>
          <p:cNvSpPr/>
          <p:nvPr/>
        </p:nvSpPr>
        <p:spPr>
          <a:xfrm>
            <a:off x="1104900" y="1883123"/>
            <a:ext cx="3568700" cy="2104068"/>
          </a:xfrm>
          <a:prstGeom prst="roundRect">
            <a:avLst>
              <a:gd fmla="val 118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Hasta ahora la única manera de obtener información o datos del usuario es a través del teclado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3"/>
          <p:cNvGrpSpPr/>
          <p:nvPr/>
        </p:nvGrpSpPr>
        <p:grpSpPr>
          <a:xfrm>
            <a:off x="277376" y="4907457"/>
            <a:ext cx="1443099" cy="4317011"/>
            <a:chOff x="2530209" y="2013585"/>
            <a:chExt cx="1443099" cy="4317011"/>
          </a:xfrm>
        </p:grpSpPr>
        <p:sp>
          <p:nvSpPr>
            <p:cNvPr id="291" name="Google Shape;291;p3"/>
            <p:cNvSpPr/>
            <p:nvPr/>
          </p:nvSpPr>
          <p:spPr>
            <a:xfrm>
              <a:off x="2859091" y="3502209"/>
              <a:ext cx="122899" cy="96934"/>
            </a:xfrm>
            <a:custGeom>
              <a:rect b="b" l="l" r="r" t="t"/>
              <a:pathLst>
                <a:path extrusionOk="0" h="28" w="35">
                  <a:moveTo>
                    <a:pt x="23" y="4"/>
                  </a:moveTo>
                  <a:cubicBezTo>
                    <a:pt x="35" y="24"/>
                    <a:pt x="35" y="24"/>
                    <a:pt x="35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0"/>
                    <a:pt x="3" y="9"/>
                  </a:cubicBezTo>
                  <a:cubicBezTo>
                    <a:pt x="4" y="4"/>
                    <a:pt x="9" y="0"/>
                    <a:pt x="14" y="2"/>
                  </a:cubicBezTo>
                  <a:lnTo>
                    <a:pt x="23" y="4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859091" y="3585295"/>
              <a:ext cx="122899" cy="112513"/>
            </a:xfrm>
            <a:custGeom>
              <a:rect b="b" l="l" r="r" t="t"/>
              <a:pathLst>
                <a:path extrusionOk="0" h="65" w="71">
                  <a:moveTo>
                    <a:pt x="65" y="65"/>
                  </a:moveTo>
                  <a:lnTo>
                    <a:pt x="10" y="47"/>
                  </a:lnTo>
                  <a:lnTo>
                    <a:pt x="0" y="8"/>
                  </a:lnTo>
                  <a:lnTo>
                    <a:pt x="71" y="0"/>
                  </a:lnTo>
                  <a:lnTo>
                    <a:pt x="65" y="65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3" name="Google Shape;293;p3"/>
            <p:cNvSpPr/>
            <p:nvPr/>
          </p:nvSpPr>
          <p:spPr>
            <a:xfrm rot="-1068998">
              <a:off x="3361068" y="2122982"/>
              <a:ext cx="533135" cy="600643"/>
            </a:xfrm>
            <a:custGeom>
              <a:rect b="b" l="l" r="r" t="t"/>
              <a:pathLst>
                <a:path extrusionOk="0" h="171" w="152">
                  <a:moveTo>
                    <a:pt x="0" y="129"/>
                  </a:moveTo>
                  <a:cubicBezTo>
                    <a:pt x="4" y="127"/>
                    <a:pt x="9" y="125"/>
                    <a:pt x="14" y="124"/>
                  </a:cubicBezTo>
                  <a:cubicBezTo>
                    <a:pt x="19" y="122"/>
                    <a:pt x="24" y="120"/>
                    <a:pt x="29" y="119"/>
                  </a:cubicBezTo>
                  <a:cubicBezTo>
                    <a:pt x="38" y="115"/>
                    <a:pt x="47" y="111"/>
                    <a:pt x="56" y="107"/>
                  </a:cubicBezTo>
                  <a:cubicBezTo>
                    <a:pt x="74" y="98"/>
                    <a:pt x="92" y="88"/>
                    <a:pt x="104" y="76"/>
                  </a:cubicBezTo>
                  <a:cubicBezTo>
                    <a:pt x="108" y="73"/>
                    <a:pt x="110" y="70"/>
                    <a:pt x="112" y="67"/>
                  </a:cubicBezTo>
                  <a:cubicBezTo>
                    <a:pt x="113" y="66"/>
                    <a:pt x="113" y="66"/>
                    <a:pt x="113" y="66"/>
                  </a:cubicBezTo>
                  <a:cubicBezTo>
                    <a:pt x="113" y="66"/>
                    <a:pt x="114" y="64"/>
                    <a:pt x="113" y="67"/>
                  </a:cubicBezTo>
                  <a:cubicBezTo>
                    <a:pt x="112" y="70"/>
                    <a:pt x="112" y="72"/>
                    <a:pt x="112" y="74"/>
                  </a:cubicBezTo>
                  <a:cubicBezTo>
                    <a:pt x="112" y="74"/>
                    <a:pt x="112" y="75"/>
                    <a:pt x="112" y="75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78"/>
                    <a:pt x="113" y="77"/>
                    <a:pt x="112" y="77"/>
                  </a:cubicBezTo>
                  <a:cubicBezTo>
                    <a:pt x="110" y="74"/>
                    <a:pt x="107" y="71"/>
                    <a:pt x="103" y="68"/>
                  </a:cubicBezTo>
                  <a:cubicBezTo>
                    <a:pt x="100" y="64"/>
                    <a:pt x="96" y="61"/>
                    <a:pt x="92" y="58"/>
                  </a:cubicBezTo>
                  <a:cubicBezTo>
                    <a:pt x="76" y="45"/>
                    <a:pt x="58" y="32"/>
                    <a:pt x="41" y="2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72" y="8"/>
                    <a:pt x="92" y="18"/>
                    <a:pt x="112" y="29"/>
                  </a:cubicBezTo>
                  <a:cubicBezTo>
                    <a:pt x="116" y="32"/>
                    <a:pt x="121" y="35"/>
                    <a:pt x="126" y="38"/>
                  </a:cubicBezTo>
                  <a:cubicBezTo>
                    <a:pt x="131" y="42"/>
                    <a:pt x="136" y="45"/>
                    <a:pt x="141" y="51"/>
                  </a:cubicBezTo>
                  <a:cubicBezTo>
                    <a:pt x="144" y="54"/>
                    <a:pt x="147" y="56"/>
                    <a:pt x="150" y="63"/>
                  </a:cubicBezTo>
                  <a:cubicBezTo>
                    <a:pt x="150" y="65"/>
                    <a:pt x="150" y="65"/>
                    <a:pt x="150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1" y="67"/>
                    <a:pt x="151" y="68"/>
                    <a:pt x="151" y="68"/>
                  </a:cubicBezTo>
                  <a:cubicBezTo>
                    <a:pt x="152" y="69"/>
                    <a:pt x="152" y="70"/>
                    <a:pt x="152" y="71"/>
                  </a:cubicBezTo>
                  <a:cubicBezTo>
                    <a:pt x="152" y="73"/>
                    <a:pt x="152" y="77"/>
                    <a:pt x="150" y="81"/>
                  </a:cubicBezTo>
                  <a:cubicBezTo>
                    <a:pt x="148" y="86"/>
                    <a:pt x="148" y="85"/>
                    <a:pt x="148" y="86"/>
                  </a:cubicBezTo>
                  <a:cubicBezTo>
                    <a:pt x="147" y="89"/>
                    <a:pt x="147" y="89"/>
                    <a:pt x="147" y="89"/>
                  </a:cubicBezTo>
                  <a:cubicBezTo>
                    <a:pt x="143" y="95"/>
                    <a:pt x="139" y="100"/>
                    <a:pt x="134" y="105"/>
                  </a:cubicBezTo>
                  <a:cubicBezTo>
                    <a:pt x="117" y="124"/>
                    <a:pt x="96" y="136"/>
                    <a:pt x="76" y="146"/>
                  </a:cubicBezTo>
                  <a:cubicBezTo>
                    <a:pt x="66" y="152"/>
                    <a:pt x="55" y="156"/>
                    <a:pt x="45" y="160"/>
                  </a:cubicBezTo>
                  <a:cubicBezTo>
                    <a:pt x="40" y="162"/>
                    <a:pt x="34" y="164"/>
                    <a:pt x="29" y="166"/>
                  </a:cubicBezTo>
                  <a:cubicBezTo>
                    <a:pt x="23" y="168"/>
                    <a:pt x="18" y="170"/>
                    <a:pt x="12" y="171"/>
                  </a:cubicBezTo>
                  <a:cubicBezTo>
                    <a:pt x="0" y="129"/>
                    <a:pt x="0" y="129"/>
                    <a:pt x="0" y="129"/>
                  </a:cubicBezTo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4" name="Google Shape;294;p3"/>
            <p:cNvSpPr/>
            <p:nvPr/>
          </p:nvSpPr>
          <p:spPr>
            <a:xfrm rot="-881102">
              <a:off x="3346220" y="2114187"/>
              <a:ext cx="115975" cy="154056"/>
            </a:xfrm>
            <a:custGeom>
              <a:rect b="b" l="l" r="r" t="t"/>
              <a:pathLst>
                <a:path extrusionOk="0" h="44" w="33">
                  <a:moveTo>
                    <a:pt x="33" y="12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20" y="44"/>
                    <a:pt x="33" y="29"/>
                  </a:cubicBezTo>
                  <a:lnTo>
                    <a:pt x="33" y="12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2609833" y="2782130"/>
              <a:ext cx="358309" cy="810088"/>
            </a:xfrm>
            <a:custGeom>
              <a:rect b="b" l="l" r="r" t="t"/>
              <a:pathLst>
                <a:path extrusionOk="0" h="231" w="102">
                  <a:moveTo>
                    <a:pt x="102" y="23"/>
                  </a:moveTo>
                  <a:cubicBezTo>
                    <a:pt x="92" y="41"/>
                    <a:pt x="82" y="59"/>
                    <a:pt x="73" y="77"/>
                  </a:cubicBezTo>
                  <a:cubicBezTo>
                    <a:pt x="63" y="96"/>
                    <a:pt x="54" y="114"/>
                    <a:pt x="46" y="132"/>
                  </a:cubicBezTo>
                  <a:cubicBezTo>
                    <a:pt x="44" y="137"/>
                    <a:pt x="42" y="141"/>
                    <a:pt x="41" y="146"/>
                  </a:cubicBezTo>
                  <a:cubicBezTo>
                    <a:pt x="40" y="147"/>
                    <a:pt x="40" y="147"/>
                    <a:pt x="40" y="147"/>
                  </a:cubicBezTo>
                  <a:cubicBezTo>
                    <a:pt x="40" y="147"/>
                    <a:pt x="40" y="147"/>
                    <a:pt x="40" y="147"/>
                  </a:cubicBezTo>
                  <a:cubicBezTo>
                    <a:pt x="40" y="147"/>
                    <a:pt x="40" y="147"/>
                    <a:pt x="40" y="147"/>
                  </a:cubicBezTo>
                  <a:cubicBezTo>
                    <a:pt x="40" y="147"/>
                    <a:pt x="40" y="147"/>
                    <a:pt x="40" y="149"/>
                  </a:cubicBezTo>
                  <a:cubicBezTo>
                    <a:pt x="40" y="151"/>
                    <a:pt x="42" y="155"/>
                    <a:pt x="44" y="158"/>
                  </a:cubicBezTo>
                  <a:cubicBezTo>
                    <a:pt x="46" y="162"/>
                    <a:pt x="49" y="166"/>
                    <a:pt x="52" y="169"/>
                  </a:cubicBezTo>
                  <a:cubicBezTo>
                    <a:pt x="64" y="184"/>
                    <a:pt x="79" y="199"/>
                    <a:pt x="94" y="213"/>
                  </a:cubicBezTo>
                  <a:cubicBezTo>
                    <a:pt x="81" y="231"/>
                    <a:pt x="81" y="231"/>
                    <a:pt x="81" y="231"/>
                  </a:cubicBezTo>
                  <a:cubicBezTo>
                    <a:pt x="62" y="220"/>
                    <a:pt x="43" y="209"/>
                    <a:pt x="26" y="193"/>
                  </a:cubicBezTo>
                  <a:cubicBezTo>
                    <a:pt x="22" y="189"/>
                    <a:pt x="18" y="185"/>
                    <a:pt x="14" y="180"/>
                  </a:cubicBezTo>
                  <a:cubicBezTo>
                    <a:pt x="10" y="175"/>
                    <a:pt x="6" y="169"/>
                    <a:pt x="3" y="161"/>
                  </a:cubicBezTo>
                  <a:cubicBezTo>
                    <a:pt x="2" y="158"/>
                    <a:pt x="1" y="153"/>
                    <a:pt x="0" y="148"/>
                  </a:cubicBezTo>
                  <a:cubicBezTo>
                    <a:pt x="0" y="146"/>
                    <a:pt x="0" y="143"/>
                    <a:pt x="1" y="140"/>
                  </a:cubicBezTo>
                  <a:cubicBezTo>
                    <a:pt x="1" y="139"/>
                    <a:pt x="1" y="137"/>
                    <a:pt x="2" y="136"/>
                  </a:cubicBezTo>
                  <a:cubicBezTo>
                    <a:pt x="2" y="133"/>
                    <a:pt x="2" y="133"/>
                    <a:pt x="2" y="133"/>
                  </a:cubicBezTo>
                  <a:cubicBezTo>
                    <a:pt x="4" y="128"/>
                    <a:pt x="6" y="123"/>
                    <a:pt x="7" y="117"/>
                  </a:cubicBezTo>
                  <a:cubicBezTo>
                    <a:pt x="15" y="96"/>
                    <a:pt x="24" y="77"/>
                    <a:pt x="33" y="57"/>
                  </a:cubicBezTo>
                  <a:cubicBezTo>
                    <a:pt x="42" y="38"/>
                    <a:pt x="52" y="19"/>
                    <a:pt x="63" y="0"/>
                  </a:cubicBezTo>
                  <a:cubicBezTo>
                    <a:pt x="102" y="23"/>
                    <a:pt x="102" y="23"/>
                    <a:pt x="102" y="23"/>
                  </a:cubicBezTo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049496" y="2413437"/>
              <a:ext cx="318496" cy="344461"/>
            </a:xfrm>
            <a:custGeom>
              <a:rect b="b" l="l" r="r" t="t"/>
              <a:pathLst>
                <a:path extrusionOk="0" h="98" w="91">
                  <a:moveTo>
                    <a:pt x="5" y="0"/>
                  </a:moveTo>
                  <a:cubicBezTo>
                    <a:pt x="2" y="27"/>
                    <a:pt x="6" y="53"/>
                    <a:pt x="0" y="76"/>
                  </a:cubicBezTo>
                  <a:cubicBezTo>
                    <a:pt x="0" y="76"/>
                    <a:pt x="7" y="98"/>
                    <a:pt x="47" y="98"/>
                  </a:cubicBezTo>
                  <a:cubicBezTo>
                    <a:pt x="91" y="98"/>
                    <a:pt x="67" y="76"/>
                    <a:pt x="67" y="76"/>
                  </a:cubicBezTo>
                  <a:cubicBezTo>
                    <a:pt x="43" y="71"/>
                    <a:pt x="43" y="53"/>
                    <a:pt x="46" y="36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002761" y="2628075"/>
              <a:ext cx="313304" cy="83086"/>
            </a:xfrm>
            <a:custGeom>
              <a:rect b="b" l="l" r="r" t="t"/>
              <a:pathLst>
                <a:path extrusionOk="0" h="24" w="89">
                  <a:moveTo>
                    <a:pt x="8" y="23"/>
                  </a:moveTo>
                  <a:cubicBezTo>
                    <a:pt x="4" y="16"/>
                    <a:pt x="0" y="8"/>
                    <a:pt x="8" y="6"/>
                  </a:cubicBezTo>
                  <a:cubicBezTo>
                    <a:pt x="15" y="3"/>
                    <a:pt x="58" y="0"/>
                    <a:pt x="74" y="5"/>
                  </a:cubicBezTo>
                  <a:cubicBezTo>
                    <a:pt x="89" y="10"/>
                    <a:pt x="85" y="24"/>
                    <a:pt x="85" y="24"/>
                  </a:cubicBezTo>
                  <a:cubicBezTo>
                    <a:pt x="8" y="23"/>
                    <a:pt x="8" y="23"/>
                    <a:pt x="8" y="2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2701574" y="6126341"/>
              <a:ext cx="60584" cy="36351"/>
            </a:xfrm>
            <a:custGeom>
              <a:rect b="b" l="l" r="r" t="t"/>
              <a:pathLst>
                <a:path extrusionOk="0" h="10" w="17">
                  <a:moveTo>
                    <a:pt x="8" y="9"/>
                  </a:moveTo>
                  <a:cubicBezTo>
                    <a:pt x="5" y="9"/>
                    <a:pt x="2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3" y="0"/>
                    <a:pt x="16" y="3"/>
                  </a:cubicBezTo>
                  <a:cubicBezTo>
                    <a:pt x="16" y="3"/>
                    <a:pt x="17" y="4"/>
                    <a:pt x="17" y="5"/>
                  </a:cubicBezTo>
                  <a:cubicBezTo>
                    <a:pt x="17" y="7"/>
                    <a:pt x="16" y="8"/>
                    <a:pt x="14" y="9"/>
                  </a:cubicBezTo>
                  <a:cubicBezTo>
                    <a:pt x="13" y="10"/>
                    <a:pt x="10" y="10"/>
                    <a:pt x="8" y="9"/>
                  </a:cubicBezTo>
                  <a:close/>
                  <a:moveTo>
                    <a:pt x="2" y="6"/>
                  </a:moveTo>
                  <a:cubicBezTo>
                    <a:pt x="8" y="8"/>
                    <a:pt x="12" y="9"/>
                    <a:pt x="14" y="8"/>
                  </a:cubicBezTo>
                  <a:cubicBezTo>
                    <a:pt x="15" y="7"/>
                    <a:pt x="15" y="6"/>
                    <a:pt x="15" y="5"/>
                  </a:cubicBezTo>
                  <a:cubicBezTo>
                    <a:pt x="15" y="5"/>
                    <a:pt x="15" y="4"/>
                    <a:pt x="15" y="4"/>
                  </a:cubicBezTo>
                  <a:cubicBezTo>
                    <a:pt x="13" y="3"/>
                    <a:pt x="7" y="4"/>
                    <a:pt x="2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2701574" y="6102108"/>
              <a:ext cx="41543" cy="45005"/>
            </a:xfrm>
            <a:custGeom>
              <a:rect b="b" l="l" r="r" t="t"/>
              <a:pathLst>
                <a:path extrusionOk="0" h="13" w="12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2"/>
                    <a:pt x="2" y="3"/>
                    <a:pt x="7" y="1"/>
                  </a:cubicBezTo>
                  <a:cubicBezTo>
                    <a:pt x="8" y="0"/>
                    <a:pt x="9" y="0"/>
                    <a:pt x="10" y="1"/>
                  </a:cubicBezTo>
                  <a:cubicBezTo>
                    <a:pt x="12" y="1"/>
                    <a:pt x="12" y="3"/>
                    <a:pt x="12" y="3"/>
                  </a:cubicBezTo>
                  <a:cubicBezTo>
                    <a:pt x="12" y="7"/>
                    <a:pt x="4" y="12"/>
                    <a:pt x="1" y="13"/>
                  </a:cubicBezTo>
                  <a:lnTo>
                    <a:pt x="0" y="13"/>
                  </a:lnTo>
                  <a:close/>
                  <a:moveTo>
                    <a:pt x="9" y="2"/>
                  </a:moveTo>
                  <a:cubicBezTo>
                    <a:pt x="9" y="2"/>
                    <a:pt x="8" y="2"/>
                    <a:pt x="7" y="2"/>
                  </a:cubicBezTo>
                  <a:cubicBezTo>
                    <a:pt x="5" y="4"/>
                    <a:pt x="3" y="9"/>
                    <a:pt x="2" y="11"/>
                  </a:cubicBezTo>
                  <a:cubicBezTo>
                    <a:pt x="5" y="10"/>
                    <a:pt x="10" y="5"/>
                    <a:pt x="11" y="3"/>
                  </a:cubicBezTo>
                  <a:cubicBezTo>
                    <a:pt x="11" y="3"/>
                    <a:pt x="11" y="3"/>
                    <a:pt x="10" y="2"/>
                  </a:cubicBezTo>
                  <a:lnTo>
                    <a:pt x="9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421653" y="6200773"/>
              <a:ext cx="58853" cy="31157"/>
            </a:xfrm>
            <a:custGeom>
              <a:rect b="b" l="l" r="r" t="t"/>
              <a:pathLst>
                <a:path extrusionOk="0" h="9" w="17">
                  <a:moveTo>
                    <a:pt x="9" y="9"/>
                  </a:moveTo>
                  <a:cubicBezTo>
                    <a:pt x="6" y="9"/>
                    <a:pt x="3" y="9"/>
                    <a:pt x="1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6"/>
                    <a:pt x="12" y="0"/>
                    <a:pt x="16" y="1"/>
                  </a:cubicBezTo>
                  <a:cubicBezTo>
                    <a:pt x="16" y="2"/>
                    <a:pt x="17" y="2"/>
                    <a:pt x="17" y="4"/>
                  </a:cubicBezTo>
                  <a:cubicBezTo>
                    <a:pt x="17" y="5"/>
                    <a:pt x="17" y="7"/>
                    <a:pt x="15" y="8"/>
                  </a:cubicBezTo>
                  <a:cubicBezTo>
                    <a:pt x="14" y="9"/>
                    <a:pt x="12" y="9"/>
                    <a:pt x="9" y="9"/>
                  </a:cubicBezTo>
                  <a:close/>
                  <a:moveTo>
                    <a:pt x="3" y="7"/>
                  </a:moveTo>
                  <a:cubicBezTo>
                    <a:pt x="8" y="8"/>
                    <a:pt x="13" y="8"/>
                    <a:pt x="14" y="6"/>
                  </a:cubicBezTo>
                  <a:cubicBezTo>
                    <a:pt x="15" y="6"/>
                    <a:pt x="15" y="5"/>
                    <a:pt x="15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2"/>
                    <a:pt x="7" y="5"/>
                    <a:pt x="3" y="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421653" y="6176540"/>
              <a:ext cx="38081" cy="51929"/>
            </a:xfrm>
            <a:custGeom>
              <a:rect b="b" l="l" r="r" t="t"/>
              <a:pathLst>
                <a:path extrusionOk="0" h="15" w="11">
                  <a:moveTo>
                    <a:pt x="1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1" y="5"/>
                    <a:pt x="5" y="2"/>
                  </a:cubicBezTo>
                  <a:cubicBezTo>
                    <a:pt x="6" y="1"/>
                    <a:pt x="7" y="0"/>
                    <a:pt x="8" y="1"/>
                  </a:cubicBezTo>
                  <a:cubicBezTo>
                    <a:pt x="10" y="1"/>
                    <a:pt x="10" y="2"/>
                    <a:pt x="10" y="3"/>
                  </a:cubicBezTo>
                  <a:cubicBezTo>
                    <a:pt x="11" y="6"/>
                    <a:pt x="5" y="13"/>
                    <a:pt x="1" y="15"/>
                  </a:cubicBezTo>
                  <a:close/>
                  <a:moveTo>
                    <a:pt x="7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2" y="10"/>
                    <a:pt x="2" y="13"/>
                  </a:cubicBezTo>
                  <a:cubicBezTo>
                    <a:pt x="5" y="10"/>
                    <a:pt x="9" y="5"/>
                    <a:pt x="9" y="3"/>
                  </a:cubicBezTo>
                  <a:cubicBezTo>
                    <a:pt x="9" y="3"/>
                    <a:pt x="9" y="2"/>
                    <a:pt x="8" y="2"/>
                  </a:cubicBezTo>
                  <a:lnTo>
                    <a:pt x="7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3302216" y="5986134"/>
              <a:ext cx="103857" cy="238872"/>
            </a:xfrm>
            <a:custGeom>
              <a:rect b="b" l="l" r="r" t="t"/>
              <a:pathLst>
                <a:path extrusionOk="0" h="138" w="60">
                  <a:moveTo>
                    <a:pt x="0" y="138"/>
                  </a:moveTo>
                  <a:lnTo>
                    <a:pt x="60" y="138"/>
                  </a:lnTo>
                  <a:lnTo>
                    <a:pt x="60" y="0"/>
                  </a:lnTo>
                  <a:lnTo>
                    <a:pt x="2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3302216" y="5986134"/>
              <a:ext cx="103857" cy="238872"/>
            </a:xfrm>
            <a:custGeom>
              <a:rect b="b" l="l" r="r" t="t"/>
              <a:pathLst>
                <a:path extrusionOk="0" h="138" w="60">
                  <a:moveTo>
                    <a:pt x="0" y="138"/>
                  </a:moveTo>
                  <a:lnTo>
                    <a:pt x="60" y="138"/>
                  </a:lnTo>
                  <a:lnTo>
                    <a:pt x="60" y="0"/>
                  </a:lnTo>
                  <a:lnTo>
                    <a:pt x="2" y="0"/>
                  </a:lnTo>
                  <a:lnTo>
                    <a:pt x="0" y="13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582138" y="5894393"/>
              <a:ext cx="180020" cy="252720"/>
            </a:xfrm>
            <a:custGeom>
              <a:rect b="b" l="l" r="r" t="t"/>
              <a:pathLst>
                <a:path extrusionOk="0" h="146" w="104">
                  <a:moveTo>
                    <a:pt x="0" y="136"/>
                  </a:moveTo>
                  <a:lnTo>
                    <a:pt x="57" y="146"/>
                  </a:lnTo>
                  <a:lnTo>
                    <a:pt x="104" y="13"/>
                  </a:lnTo>
                  <a:lnTo>
                    <a:pt x="47" y="0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582138" y="5894393"/>
              <a:ext cx="180020" cy="252720"/>
            </a:xfrm>
            <a:custGeom>
              <a:rect b="b" l="l" r="r" t="t"/>
              <a:pathLst>
                <a:path extrusionOk="0" h="146" w="104">
                  <a:moveTo>
                    <a:pt x="0" y="136"/>
                  </a:moveTo>
                  <a:lnTo>
                    <a:pt x="57" y="146"/>
                  </a:lnTo>
                  <a:lnTo>
                    <a:pt x="104" y="13"/>
                  </a:lnTo>
                  <a:lnTo>
                    <a:pt x="47" y="0"/>
                  </a:lnTo>
                  <a:lnTo>
                    <a:pt x="0" y="13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530209" y="6109032"/>
              <a:ext cx="315034" cy="174827"/>
            </a:xfrm>
            <a:custGeom>
              <a:rect b="b" l="l" r="r" t="t"/>
              <a:pathLst>
                <a:path extrusionOk="0" h="50" w="90">
                  <a:moveTo>
                    <a:pt x="46" y="7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2" y="1"/>
                    <a:pt x="11" y="2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9"/>
                    <a:pt x="2" y="32"/>
                    <a:pt x="4" y="33"/>
                  </a:cubicBezTo>
                  <a:cubicBezTo>
                    <a:pt x="16" y="35"/>
                    <a:pt x="21" y="35"/>
                    <a:pt x="36" y="38"/>
                  </a:cubicBezTo>
                  <a:cubicBezTo>
                    <a:pt x="44" y="40"/>
                    <a:pt x="62" y="45"/>
                    <a:pt x="74" y="48"/>
                  </a:cubicBezTo>
                  <a:cubicBezTo>
                    <a:pt x="86" y="50"/>
                    <a:pt x="90" y="38"/>
                    <a:pt x="85" y="36"/>
                  </a:cubicBezTo>
                  <a:cubicBezTo>
                    <a:pt x="64" y="27"/>
                    <a:pt x="57" y="18"/>
                    <a:pt x="51" y="10"/>
                  </a:cubicBezTo>
                  <a:cubicBezTo>
                    <a:pt x="50" y="9"/>
                    <a:pt x="48" y="8"/>
                    <a:pt x="46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265867" y="6214621"/>
              <a:ext cx="351385" cy="115975"/>
            </a:xfrm>
            <a:custGeom>
              <a:rect b="b" l="l" r="r" t="t"/>
              <a:pathLst>
                <a:path extrusionOk="0" h="33" w="100">
                  <a:moveTo>
                    <a:pt x="3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5" y="0"/>
                    <a:pt x="5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2" y="33"/>
                    <a:pt x="5" y="33"/>
                  </a:cubicBezTo>
                  <a:cubicBezTo>
                    <a:pt x="16" y="33"/>
                    <a:pt x="33" y="32"/>
                    <a:pt x="47" y="32"/>
                  </a:cubicBezTo>
                  <a:cubicBezTo>
                    <a:pt x="64" y="32"/>
                    <a:pt x="65" y="33"/>
                    <a:pt x="85" y="33"/>
                  </a:cubicBezTo>
                  <a:cubicBezTo>
                    <a:pt x="97" y="33"/>
                    <a:pt x="100" y="21"/>
                    <a:pt x="95" y="20"/>
                  </a:cubicBezTo>
                  <a:cubicBezTo>
                    <a:pt x="72" y="15"/>
                    <a:pt x="67" y="14"/>
                    <a:pt x="47" y="2"/>
                  </a:cubicBezTo>
                  <a:cubicBezTo>
                    <a:pt x="44" y="1"/>
                    <a:pt x="42" y="0"/>
                    <a:pt x="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2673879" y="2659233"/>
              <a:ext cx="372156" cy="453511"/>
            </a:xfrm>
            <a:custGeom>
              <a:rect b="b" l="l" r="r" t="t"/>
              <a:pathLst>
                <a:path extrusionOk="0" h="129" w="106">
                  <a:moveTo>
                    <a:pt x="59" y="12"/>
                  </a:moveTo>
                  <a:cubicBezTo>
                    <a:pt x="32" y="20"/>
                    <a:pt x="0" y="94"/>
                    <a:pt x="0" y="94"/>
                  </a:cubicBezTo>
                  <a:cubicBezTo>
                    <a:pt x="62" y="129"/>
                    <a:pt x="62" y="129"/>
                    <a:pt x="62" y="129"/>
                  </a:cubicBezTo>
                  <a:cubicBezTo>
                    <a:pt x="62" y="129"/>
                    <a:pt x="76" y="103"/>
                    <a:pt x="91" y="70"/>
                  </a:cubicBezTo>
                  <a:cubicBezTo>
                    <a:pt x="106" y="36"/>
                    <a:pt x="104" y="0"/>
                    <a:pt x="59" y="12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2859091" y="2676542"/>
              <a:ext cx="638724" cy="922601"/>
            </a:xfrm>
            <a:custGeom>
              <a:rect b="b" l="l" r="r" t="t"/>
              <a:pathLst>
                <a:path extrusionOk="0" h="263" w="182">
                  <a:moveTo>
                    <a:pt x="181" y="139"/>
                  </a:moveTo>
                  <a:cubicBezTo>
                    <a:pt x="181" y="172"/>
                    <a:pt x="179" y="213"/>
                    <a:pt x="174" y="263"/>
                  </a:cubicBezTo>
                  <a:cubicBezTo>
                    <a:pt x="17" y="263"/>
                    <a:pt x="17" y="263"/>
                    <a:pt x="17" y="263"/>
                  </a:cubicBezTo>
                  <a:cubicBezTo>
                    <a:pt x="15" y="241"/>
                    <a:pt x="25" y="134"/>
                    <a:pt x="2" y="26"/>
                  </a:cubicBezTo>
                  <a:cubicBezTo>
                    <a:pt x="0" y="16"/>
                    <a:pt x="7" y="6"/>
                    <a:pt x="17" y="5"/>
                  </a:cubicBezTo>
                  <a:cubicBezTo>
                    <a:pt x="27" y="3"/>
                    <a:pt x="39" y="2"/>
                    <a:pt x="50" y="1"/>
                  </a:cubicBezTo>
                  <a:cubicBezTo>
                    <a:pt x="70" y="0"/>
                    <a:pt x="100" y="0"/>
                    <a:pt x="117" y="1"/>
                  </a:cubicBezTo>
                  <a:cubicBezTo>
                    <a:pt x="127" y="2"/>
                    <a:pt x="137" y="4"/>
                    <a:pt x="145" y="5"/>
                  </a:cubicBezTo>
                  <a:cubicBezTo>
                    <a:pt x="157" y="8"/>
                    <a:pt x="168" y="17"/>
                    <a:pt x="171" y="30"/>
                  </a:cubicBezTo>
                  <a:cubicBezTo>
                    <a:pt x="175" y="42"/>
                    <a:pt x="178" y="62"/>
                    <a:pt x="180" y="92"/>
                  </a:cubicBezTo>
                  <a:cubicBezTo>
                    <a:pt x="181" y="106"/>
                    <a:pt x="182" y="121"/>
                    <a:pt x="181" y="139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 rot="-1775718">
              <a:off x="3223456" y="2596919"/>
              <a:ext cx="379080" cy="318496"/>
            </a:xfrm>
            <a:custGeom>
              <a:rect b="b" l="l" r="r" t="t"/>
              <a:pathLst>
                <a:path extrusionOk="0" h="91" w="108">
                  <a:moveTo>
                    <a:pt x="28" y="78"/>
                  </a:moveTo>
                  <a:cubicBezTo>
                    <a:pt x="52" y="91"/>
                    <a:pt x="108" y="76"/>
                    <a:pt x="108" y="76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6" y="0"/>
                    <a:pt x="81" y="2"/>
                    <a:pt x="46" y="16"/>
                  </a:cubicBezTo>
                  <a:cubicBezTo>
                    <a:pt x="8" y="31"/>
                    <a:pt x="0" y="63"/>
                    <a:pt x="28" y="78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220862" y="2659233"/>
              <a:ext cx="140208" cy="290801"/>
            </a:xfrm>
            <a:custGeom>
              <a:rect b="b" l="l" r="r" t="t"/>
              <a:pathLst>
                <a:path extrusionOk="0" h="83" w="40">
                  <a:moveTo>
                    <a:pt x="40" y="0"/>
                  </a:moveTo>
                  <a:cubicBezTo>
                    <a:pt x="40" y="0"/>
                    <a:pt x="29" y="4"/>
                    <a:pt x="24" y="5"/>
                  </a:cubicBezTo>
                  <a:cubicBezTo>
                    <a:pt x="9" y="22"/>
                    <a:pt x="0" y="58"/>
                    <a:pt x="0" y="58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2" y="46"/>
                    <a:pt x="40" y="0"/>
                    <a:pt x="40" y="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227785" y="2659233"/>
              <a:ext cx="133284" cy="211177"/>
            </a:xfrm>
            <a:custGeom>
              <a:rect b="b" l="l" r="r" t="t"/>
              <a:pathLst>
                <a:path extrusionOk="0" h="60" w="38">
                  <a:moveTo>
                    <a:pt x="38" y="0"/>
                  </a:moveTo>
                  <a:cubicBezTo>
                    <a:pt x="38" y="0"/>
                    <a:pt x="27" y="4"/>
                    <a:pt x="22" y="5"/>
                  </a:cubicBezTo>
                  <a:cubicBezTo>
                    <a:pt x="22" y="6"/>
                    <a:pt x="21" y="7"/>
                    <a:pt x="21" y="7"/>
                  </a:cubicBezTo>
                  <a:cubicBezTo>
                    <a:pt x="20" y="8"/>
                    <a:pt x="20" y="8"/>
                    <a:pt x="19" y="9"/>
                  </a:cubicBezTo>
                  <a:cubicBezTo>
                    <a:pt x="10" y="22"/>
                    <a:pt x="3" y="41"/>
                    <a:pt x="0" y="51"/>
                  </a:cubicBezTo>
                  <a:cubicBezTo>
                    <a:pt x="6" y="53"/>
                    <a:pt x="11" y="55"/>
                    <a:pt x="14" y="57"/>
                  </a:cubicBezTo>
                  <a:cubicBezTo>
                    <a:pt x="14" y="58"/>
                    <a:pt x="15" y="59"/>
                    <a:pt x="16" y="60"/>
                  </a:cubicBezTo>
                  <a:cubicBezTo>
                    <a:pt x="20" y="29"/>
                    <a:pt x="38" y="0"/>
                    <a:pt x="38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3340297" y="3266798"/>
              <a:ext cx="157518" cy="129822"/>
            </a:xfrm>
            <a:custGeom>
              <a:rect b="b" l="l" r="r" t="t"/>
              <a:pathLst>
                <a:path extrusionOk="0" h="37" w="45">
                  <a:moveTo>
                    <a:pt x="44" y="16"/>
                  </a:moveTo>
                  <a:cubicBezTo>
                    <a:pt x="29" y="27"/>
                    <a:pt x="0" y="0"/>
                    <a:pt x="0" y="0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8" y="37"/>
                    <a:pt x="44" y="26"/>
                    <a:pt x="44" y="26"/>
                  </a:cubicBezTo>
                  <a:cubicBezTo>
                    <a:pt x="44" y="26"/>
                    <a:pt x="45" y="21"/>
                    <a:pt x="44" y="16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3350683" y="3280646"/>
              <a:ext cx="147132" cy="84817"/>
            </a:xfrm>
            <a:custGeom>
              <a:rect b="b" l="l" r="r" t="t"/>
              <a:pathLst>
                <a:path extrusionOk="0" h="24" w="42">
                  <a:moveTo>
                    <a:pt x="1" y="0"/>
                  </a:moveTo>
                  <a:cubicBezTo>
                    <a:pt x="0" y="4"/>
                    <a:pt x="0" y="8"/>
                    <a:pt x="0" y="12"/>
                  </a:cubicBezTo>
                  <a:cubicBezTo>
                    <a:pt x="12" y="22"/>
                    <a:pt x="23" y="24"/>
                    <a:pt x="30" y="24"/>
                  </a:cubicBezTo>
                  <a:cubicBezTo>
                    <a:pt x="37" y="24"/>
                    <a:pt x="41" y="22"/>
                    <a:pt x="41" y="22"/>
                  </a:cubicBezTo>
                  <a:cubicBezTo>
                    <a:pt x="41" y="22"/>
                    <a:pt x="42" y="19"/>
                    <a:pt x="42" y="15"/>
                  </a:cubicBezTo>
                  <a:cubicBezTo>
                    <a:pt x="42" y="14"/>
                    <a:pt x="42" y="13"/>
                    <a:pt x="41" y="12"/>
                  </a:cubicBezTo>
                  <a:cubicBezTo>
                    <a:pt x="41" y="12"/>
                    <a:pt x="41" y="12"/>
                    <a:pt x="40" y="13"/>
                  </a:cubicBezTo>
                  <a:cubicBezTo>
                    <a:pt x="38" y="14"/>
                    <a:pt x="35" y="15"/>
                    <a:pt x="32" y="15"/>
                  </a:cubicBezTo>
                  <a:cubicBezTo>
                    <a:pt x="21" y="15"/>
                    <a:pt x="7" y="5"/>
                    <a:pt x="1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919675" y="2676542"/>
              <a:ext cx="86548" cy="200791"/>
            </a:xfrm>
            <a:custGeom>
              <a:rect b="b" l="l" r="r" t="t"/>
              <a:pathLst>
                <a:path extrusionOk="0" h="57" w="25">
                  <a:moveTo>
                    <a:pt x="25" y="0"/>
                  </a:moveTo>
                  <a:cubicBezTo>
                    <a:pt x="16" y="1"/>
                    <a:pt x="11" y="3"/>
                    <a:pt x="11" y="3"/>
                  </a:cubicBezTo>
                  <a:cubicBezTo>
                    <a:pt x="11" y="3"/>
                    <a:pt x="0" y="26"/>
                    <a:pt x="7" y="57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49"/>
                    <a:pt x="19" y="23"/>
                    <a:pt x="25" y="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936985" y="2676542"/>
              <a:ext cx="69238" cy="180020"/>
            </a:xfrm>
            <a:custGeom>
              <a:rect b="b" l="l" r="r" t="t"/>
              <a:pathLst>
                <a:path extrusionOk="0" h="51" w="20">
                  <a:moveTo>
                    <a:pt x="20" y="0"/>
                  </a:moveTo>
                  <a:cubicBezTo>
                    <a:pt x="11" y="1"/>
                    <a:pt x="6" y="3"/>
                    <a:pt x="6" y="3"/>
                  </a:cubicBezTo>
                  <a:cubicBezTo>
                    <a:pt x="6" y="3"/>
                    <a:pt x="0" y="17"/>
                    <a:pt x="0" y="37"/>
                  </a:cubicBezTo>
                  <a:cubicBezTo>
                    <a:pt x="0" y="42"/>
                    <a:pt x="0" y="46"/>
                    <a:pt x="1" y="51"/>
                  </a:cubicBezTo>
                  <a:cubicBezTo>
                    <a:pt x="4" y="48"/>
                    <a:pt x="11" y="46"/>
                    <a:pt x="18" y="45"/>
                  </a:cubicBezTo>
                  <a:cubicBezTo>
                    <a:pt x="18" y="40"/>
                    <a:pt x="17" y="33"/>
                    <a:pt x="17" y="24"/>
                  </a:cubicBezTo>
                  <a:cubicBezTo>
                    <a:pt x="17" y="17"/>
                    <a:pt x="18" y="8"/>
                    <a:pt x="20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855629" y="2809825"/>
              <a:ext cx="540059" cy="681997"/>
            </a:xfrm>
            <a:custGeom>
              <a:rect b="b" l="l" r="r" t="t"/>
              <a:pathLst>
                <a:path extrusionOk="0" h="194" w="154">
                  <a:moveTo>
                    <a:pt x="22" y="15"/>
                  </a:moveTo>
                  <a:cubicBezTo>
                    <a:pt x="32" y="0"/>
                    <a:pt x="104" y="2"/>
                    <a:pt x="120" y="14"/>
                  </a:cubicBezTo>
                  <a:cubicBezTo>
                    <a:pt x="135" y="26"/>
                    <a:pt x="154" y="157"/>
                    <a:pt x="131" y="172"/>
                  </a:cubicBezTo>
                  <a:cubicBezTo>
                    <a:pt x="108" y="187"/>
                    <a:pt x="1" y="194"/>
                    <a:pt x="1" y="164"/>
                  </a:cubicBezTo>
                  <a:cubicBezTo>
                    <a:pt x="0" y="134"/>
                    <a:pt x="24" y="83"/>
                    <a:pt x="21" y="66"/>
                  </a:cubicBezTo>
                  <a:cubicBezTo>
                    <a:pt x="18" y="49"/>
                    <a:pt x="10" y="35"/>
                    <a:pt x="22" y="1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2936985" y="3017540"/>
              <a:ext cx="287339" cy="34619"/>
            </a:xfrm>
            <a:custGeom>
              <a:rect b="b" l="l" r="r" t="t"/>
              <a:pathLst>
                <a:path extrusionOk="0" h="10" w="82">
                  <a:moveTo>
                    <a:pt x="82" y="0"/>
                  </a:moveTo>
                  <a:cubicBezTo>
                    <a:pt x="61" y="4"/>
                    <a:pt x="45" y="6"/>
                    <a:pt x="32" y="6"/>
                  </a:cubicBezTo>
                  <a:cubicBezTo>
                    <a:pt x="11" y="6"/>
                    <a:pt x="0" y="2"/>
                    <a:pt x="0" y="2"/>
                  </a:cubicBezTo>
                  <a:cubicBezTo>
                    <a:pt x="5" y="8"/>
                    <a:pt x="16" y="10"/>
                    <a:pt x="28" y="10"/>
                  </a:cubicBezTo>
                  <a:cubicBezTo>
                    <a:pt x="50" y="10"/>
                    <a:pt x="75" y="3"/>
                    <a:pt x="82" y="0"/>
                  </a:cubicBezTo>
                </a:path>
              </a:pathLst>
            </a:custGeom>
            <a:solidFill>
              <a:srgbClr val="365EA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023532" y="2996769"/>
              <a:ext cx="29427" cy="27695"/>
            </a:xfrm>
            <a:custGeom>
              <a:rect b="b" l="l" r="r" t="t"/>
              <a:pathLst>
                <a:path extrusionOk="0" h="8" w="8">
                  <a:moveTo>
                    <a:pt x="3" y="0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7" y="4"/>
                  </a:cubicBezTo>
                  <a:cubicBezTo>
                    <a:pt x="7" y="2"/>
                    <a:pt x="5" y="0"/>
                    <a:pt x="3" y="0"/>
                  </a:cubicBezTo>
                </a:path>
              </a:pathLst>
            </a:custGeom>
            <a:solidFill>
              <a:srgbClr val="365EA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234709" y="2863486"/>
              <a:ext cx="64046" cy="557369"/>
            </a:xfrm>
            <a:custGeom>
              <a:rect b="b" l="l" r="r" t="t"/>
              <a:pathLst>
                <a:path extrusionOk="0" h="159" w="18">
                  <a:moveTo>
                    <a:pt x="9" y="0"/>
                  </a:moveTo>
                  <a:cubicBezTo>
                    <a:pt x="8" y="0"/>
                    <a:pt x="8" y="1"/>
                    <a:pt x="8" y="1"/>
                  </a:cubicBezTo>
                  <a:cubicBezTo>
                    <a:pt x="5" y="5"/>
                    <a:pt x="0" y="24"/>
                    <a:pt x="4" y="44"/>
                  </a:cubicBezTo>
                  <a:cubicBezTo>
                    <a:pt x="15" y="92"/>
                    <a:pt x="16" y="130"/>
                    <a:pt x="8" y="158"/>
                  </a:cubicBezTo>
                  <a:cubicBezTo>
                    <a:pt x="7" y="158"/>
                    <a:pt x="8" y="159"/>
                    <a:pt x="8" y="159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59"/>
                    <a:pt x="9" y="159"/>
                    <a:pt x="9" y="158"/>
                  </a:cubicBezTo>
                  <a:cubicBezTo>
                    <a:pt x="18" y="130"/>
                    <a:pt x="17" y="92"/>
                    <a:pt x="6" y="43"/>
                  </a:cubicBezTo>
                  <a:cubicBezTo>
                    <a:pt x="2" y="25"/>
                    <a:pt x="7" y="6"/>
                    <a:pt x="9" y="2"/>
                  </a:cubicBezTo>
                  <a:cubicBezTo>
                    <a:pt x="10" y="2"/>
                    <a:pt x="10" y="1"/>
                    <a:pt x="9" y="1"/>
                  </a:cubicBezTo>
                  <a:cubicBezTo>
                    <a:pt x="9" y="0"/>
                    <a:pt x="9" y="0"/>
                    <a:pt x="9" y="0"/>
                  </a:cubicBezTo>
                </a:path>
              </a:pathLst>
            </a:custGeom>
            <a:solidFill>
              <a:srgbClr val="365EA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3305678" y="5986134"/>
              <a:ext cx="0" cy="122899"/>
            </a:xfrm>
            <a:custGeom>
              <a:rect b="b" l="l" r="r" t="t"/>
              <a:pathLst>
                <a:path extrusionOk="0" h="71" w="120000">
                  <a:moveTo>
                    <a:pt x="0" y="29"/>
                  </a:moveTo>
                  <a:lnTo>
                    <a:pt x="0" y="29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29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3305678" y="5986134"/>
              <a:ext cx="0" cy="122899"/>
            </a:xfrm>
            <a:custGeom>
              <a:rect b="b" l="l" r="r" t="t"/>
              <a:pathLst>
                <a:path extrusionOk="0" h="71" w="120000">
                  <a:moveTo>
                    <a:pt x="0" y="29"/>
                  </a:moveTo>
                  <a:lnTo>
                    <a:pt x="0" y="29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29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3305678" y="6031139"/>
              <a:ext cx="1732" cy="5193"/>
            </a:xfrm>
            <a:prstGeom prst="rect">
              <a:avLst/>
            </a:prstGeom>
            <a:solidFill>
              <a:srgbClr val="BCBCB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3305678" y="6031139"/>
              <a:ext cx="1732" cy="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305678" y="5986134"/>
              <a:ext cx="100396" cy="122899"/>
            </a:xfrm>
            <a:custGeom>
              <a:rect b="b" l="l" r="r" t="t"/>
              <a:pathLst>
                <a:path extrusionOk="0" h="71" w="58">
                  <a:moveTo>
                    <a:pt x="58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71"/>
                  </a:lnTo>
                  <a:lnTo>
                    <a:pt x="58" y="71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6632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305678" y="5986134"/>
              <a:ext cx="100396" cy="122899"/>
            </a:xfrm>
            <a:custGeom>
              <a:rect b="b" l="l" r="r" t="t"/>
              <a:pathLst>
                <a:path extrusionOk="0" h="71" w="58">
                  <a:moveTo>
                    <a:pt x="58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71"/>
                  </a:lnTo>
                  <a:lnTo>
                    <a:pt x="58" y="71"/>
                  </a:lnTo>
                  <a:lnTo>
                    <a:pt x="58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2620219" y="5989596"/>
              <a:ext cx="6924" cy="27695"/>
            </a:xfrm>
            <a:custGeom>
              <a:rect b="b" l="l" r="r" t="t"/>
              <a:pathLst>
                <a:path extrusionOk="0" h="16" w="4">
                  <a:moveTo>
                    <a:pt x="4" y="0"/>
                  </a:moveTo>
                  <a:lnTo>
                    <a:pt x="0" y="16"/>
                  </a:lnTo>
                  <a:lnTo>
                    <a:pt x="0" y="1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620219" y="5989596"/>
              <a:ext cx="6924" cy="27695"/>
            </a:xfrm>
            <a:custGeom>
              <a:rect b="b" l="l" r="r" t="t"/>
              <a:pathLst>
                <a:path extrusionOk="0" h="16" w="4">
                  <a:moveTo>
                    <a:pt x="4" y="0"/>
                  </a:moveTo>
                  <a:lnTo>
                    <a:pt x="0" y="16"/>
                  </a:lnTo>
                  <a:lnTo>
                    <a:pt x="0" y="16"/>
                  </a:lnTo>
                  <a:lnTo>
                    <a:pt x="4" y="0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20219" y="5989596"/>
              <a:ext cx="105589" cy="46736"/>
            </a:xfrm>
            <a:custGeom>
              <a:rect b="b" l="l" r="r" t="t"/>
              <a:pathLst>
                <a:path extrusionOk="0" h="27" w="61">
                  <a:moveTo>
                    <a:pt x="4" y="0"/>
                  </a:moveTo>
                  <a:lnTo>
                    <a:pt x="0" y="16"/>
                  </a:lnTo>
                  <a:lnTo>
                    <a:pt x="57" y="27"/>
                  </a:lnTo>
                  <a:lnTo>
                    <a:pt x="61" y="1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66322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620219" y="5989596"/>
              <a:ext cx="105589" cy="46736"/>
            </a:xfrm>
            <a:custGeom>
              <a:rect b="b" l="l" r="r" t="t"/>
              <a:pathLst>
                <a:path extrusionOk="0" h="27" w="61">
                  <a:moveTo>
                    <a:pt x="4" y="0"/>
                  </a:moveTo>
                  <a:lnTo>
                    <a:pt x="0" y="16"/>
                  </a:lnTo>
                  <a:lnTo>
                    <a:pt x="57" y="27"/>
                  </a:lnTo>
                  <a:lnTo>
                    <a:pt x="61" y="12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592523" y="3599142"/>
              <a:ext cx="683729" cy="2425073"/>
            </a:xfrm>
            <a:custGeom>
              <a:rect b="b" l="l" r="r" t="t"/>
              <a:pathLst>
                <a:path extrusionOk="0" h="691" w="195">
                  <a:moveTo>
                    <a:pt x="195" y="0"/>
                  </a:moveTo>
                  <a:cubicBezTo>
                    <a:pt x="195" y="0"/>
                    <a:pt x="170" y="225"/>
                    <a:pt x="155" y="309"/>
                  </a:cubicBezTo>
                  <a:cubicBezTo>
                    <a:pt x="138" y="401"/>
                    <a:pt x="53" y="691"/>
                    <a:pt x="53" y="691"/>
                  </a:cubicBezTo>
                  <a:cubicBezTo>
                    <a:pt x="0" y="679"/>
                    <a:pt x="0" y="679"/>
                    <a:pt x="0" y="679"/>
                  </a:cubicBezTo>
                  <a:cubicBezTo>
                    <a:pt x="0" y="679"/>
                    <a:pt x="59" y="409"/>
                    <a:pt x="67" y="318"/>
                  </a:cubicBezTo>
                  <a:cubicBezTo>
                    <a:pt x="76" y="219"/>
                    <a:pt x="93" y="0"/>
                    <a:pt x="93" y="0"/>
                  </a:cubicBezTo>
                  <a:cubicBezTo>
                    <a:pt x="195" y="0"/>
                    <a:pt x="195" y="0"/>
                    <a:pt x="195" y="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2582138" y="5920358"/>
              <a:ext cx="238872" cy="107319"/>
            </a:xfrm>
            <a:custGeom>
              <a:rect b="b" l="l" r="r" t="t"/>
              <a:pathLst>
                <a:path extrusionOk="0" h="62" w="138">
                  <a:moveTo>
                    <a:pt x="138" y="24"/>
                  </a:moveTo>
                  <a:lnTo>
                    <a:pt x="120" y="62"/>
                  </a:lnTo>
                  <a:lnTo>
                    <a:pt x="0" y="36"/>
                  </a:lnTo>
                  <a:lnTo>
                    <a:pt x="8" y="0"/>
                  </a:lnTo>
                  <a:lnTo>
                    <a:pt x="138" y="2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136044" y="4404038"/>
              <a:ext cx="43274" cy="270029"/>
            </a:xfrm>
            <a:custGeom>
              <a:rect b="b" l="l" r="r" t="t"/>
              <a:pathLst>
                <a:path extrusionOk="0" h="77" w="12">
                  <a:moveTo>
                    <a:pt x="12" y="0"/>
                  </a:moveTo>
                  <a:cubicBezTo>
                    <a:pt x="8" y="30"/>
                    <a:pt x="4" y="5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4" y="57"/>
                    <a:pt x="8" y="30"/>
                    <a:pt x="12" y="0"/>
                  </a:cubicBezTo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3077192" y="3881289"/>
              <a:ext cx="164442" cy="792779"/>
            </a:xfrm>
            <a:custGeom>
              <a:rect b="b" l="l" r="r" t="t"/>
              <a:pathLst>
                <a:path extrusionOk="0" h="226" w="47">
                  <a:moveTo>
                    <a:pt x="42" y="0"/>
                  </a:moveTo>
                  <a:cubicBezTo>
                    <a:pt x="41" y="0"/>
                    <a:pt x="40" y="0"/>
                    <a:pt x="39" y="0"/>
                  </a:cubicBezTo>
                  <a:cubicBezTo>
                    <a:pt x="0" y="8"/>
                    <a:pt x="10" y="152"/>
                    <a:pt x="17" y="226"/>
                  </a:cubicBezTo>
                  <a:cubicBezTo>
                    <a:pt x="21" y="206"/>
                    <a:pt x="25" y="179"/>
                    <a:pt x="29" y="149"/>
                  </a:cubicBezTo>
                  <a:cubicBezTo>
                    <a:pt x="35" y="101"/>
                    <a:pt x="42" y="46"/>
                    <a:pt x="47" y="2"/>
                  </a:cubicBezTo>
                  <a:cubicBezTo>
                    <a:pt x="46" y="1"/>
                    <a:pt x="44" y="0"/>
                    <a:pt x="42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3108349" y="3599142"/>
              <a:ext cx="406776" cy="2485656"/>
            </a:xfrm>
            <a:custGeom>
              <a:rect b="b" l="l" r="r" t="t"/>
              <a:pathLst>
                <a:path extrusionOk="0" h="708" w="116">
                  <a:moveTo>
                    <a:pt x="103" y="0"/>
                  </a:moveTo>
                  <a:cubicBezTo>
                    <a:pt x="103" y="0"/>
                    <a:pt x="116" y="220"/>
                    <a:pt x="116" y="310"/>
                  </a:cubicBezTo>
                  <a:cubicBezTo>
                    <a:pt x="116" y="403"/>
                    <a:pt x="96" y="708"/>
                    <a:pt x="96" y="708"/>
                  </a:cubicBezTo>
                  <a:cubicBezTo>
                    <a:pt x="46" y="708"/>
                    <a:pt x="46" y="708"/>
                    <a:pt x="46" y="708"/>
                  </a:cubicBezTo>
                  <a:cubicBezTo>
                    <a:pt x="46" y="708"/>
                    <a:pt x="32" y="408"/>
                    <a:pt x="27" y="317"/>
                  </a:cubicBezTo>
                  <a:cubicBezTo>
                    <a:pt x="20" y="217"/>
                    <a:pt x="0" y="0"/>
                    <a:pt x="0" y="0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3248557" y="6013829"/>
              <a:ext cx="225025" cy="74432"/>
            </a:xfrm>
            <a:custGeom>
              <a:rect b="b" l="l" r="r" t="t"/>
              <a:pathLst>
                <a:path extrusionOk="0" h="43" w="130">
                  <a:moveTo>
                    <a:pt x="130" y="0"/>
                  </a:moveTo>
                  <a:lnTo>
                    <a:pt x="126" y="43"/>
                  </a:lnTo>
                  <a:lnTo>
                    <a:pt x="4" y="43"/>
                  </a:lnTo>
                  <a:lnTo>
                    <a:pt x="0" y="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3298754" y="2297462"/>
              <a:ext cx="24233" cy="31157"/>
            </a:xfrm>
            <a:custGeom>
              <a:rect b="b" l="l" r="r" t="t"/>
              <a:pathLst>
                <a:path extrusionOk="0" h="9" w="7">
                  <a:moveTo>
                    <a:pt x="1" y="5"/>
                  </a:moveTo>
                  <a:cubicBezTo>
                    <a:pt x="1" y="7"/>
                    <a:pt x="3" y="9"/>
                    <a:pt x="4" y="9"/>
                  </a:cubicBezTo>
                  <a:cubicBezTo>
                    <a:pt x="6" y="8"/>
                    <a:pt x="7" y="6"/>
                    <a:pt x="6" y="4"/>
                  </a:cubicBezTo>
                  <a:cubicBezTo>
                    <a:pt x="6" y="2"/>
                    <a:pt x="4" y="0"/>
                    <a:pt x="3" y="0"/>
                  </a:cubicBezTo>
                  <a:cubicBezTo>
                    <a:pt x="1" y="0"/>
                    <a:pt x="0" y="2"/>
                    <a:pt x="1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305678" y="2328619"/>
              <a:ext cx="48467" cy="81356"/>
            </a:xfrm>
            <a:custGeom>
              <a:rect b="b" l="l" r="r" t="t"/>
              <a:pathLst>
                <a:path extrusionOk="0" h="23" w="14">
                  <a:moveTo>
                    <a:pt x="0" y="0"/>
                  </a:moveTo>
                  <a:cubicBezTo>
                    <a:pt x="0" y="0"/>
                    <a:pt x="8" y="13"/>
                    <a:pt x="14" y="19"/>
                  </a:cubicBezTo>
                  <a:cubicBezTo>
                    <a:pt x="11" y="23"/>
                    <a:pt x="3" y="22"/>
                    <a:pt x="3" y="2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30F0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258943" y="2245533"/>
              <a:ext cx="50198" cy="27695"/>
            </a:xfrm>
            <a:custGeom>
              <a:rect b="b" l="l" r="r" t="t"/>
              <a:pathLst>
                <a:path extrusionOk="0" h="8" w="14">
                  <a:moveTo>
                    <a:pt x="13" y="4"/>
                  </a:moveTo>
                  <a:cubicBezTo>
                    <a:pt x="13" y="4"/>
                    <a:pt x="13" y="4"/>
                    <a:pt x="14" y="3"/>
                  </a:cubicBezTo>
                  <a:cubicBezTo>
                    <a:pt x="14" y="3"/>
                    <a:pt x="13" y="2"/>
                    <a:pt x="13" y="2"/>
                  </a:cubicBezTo>
                  <a:cubicBezTo>
                    <a:pt x="12" y="2"/>
                    <a:pt x="6" y="0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1" y="8"/>
                    <a:pt x="2" y="8"/>
                    <a:pt x="2" y="7"/>
                  </a:cubicBezTo>
                  <a:cubicBezTo>
                    <a:pt x="7" y="3"/>
                    <a:pt x="12" y="4"/>
                    <a:pt x="12" y="4"/>
                  </a:cubicBezTo>
                  <a:lnTo>
                    <a:pt x="13" y="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999299" y="2136483"/>
              <a:ext cx="334075" cy="467359"/>
            </a:xfrm>
            <a:custGeom>
              <a:rect b="b" l="l" r="r" t="t"/>
              <a:pathLst>
                <a:path extrusionOk="0" h="133" w="95">
                  <a:moveTo>
                    <a:pt x="6" y="54"/>
                  </a:moveTo>
                  <a:cubicBezTo>
                    <a:pt x="12" y="82"/>
                    <a:pt x="14" y="99"/>
                    <a:pt x="31" y="113"/>
                  </a:cubicBezTo>
                  <a:cubicBezTo>
                    <a:pt x="56" y="133"/>
                    <a:pt x="90" y="116"/>
                    <a:pt x="93" y="86"/>
                  </a:cubicBezTo>
                  <a:cubicBezTo>
                    <a:pt x="95" y="60"/>
                    <a:pt x="85" y="17"/>
                    <a:pt x="55" y="9"/>
                  </a:cubicBezTo>
                  <a:cubicBezTo>
                    <a:pt x="26" y="0"/>
                    <a:pt x="0" y="25"/>
                    <a:pt x="6" y="54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86786" y="2013585"/>
              <a:ext cx="432739" cy="495054"/>
            </a:xfrm>
            <a:custGeom>
              <a:rect b="b" l="l" r="r" t="t"/>
              <a:pathLst>
                <a:path extrusionOk="0" h="141" w="123">
                  <a:moveTo>
                    <a:pt x="100" y="93"/>
                  </a:moveTo>
                  <a:cubicBezTo>
                    <a:pt x="95" y="108"/>
                    <a:pt x="68" y="137"/>
                    <a:pt x="59" y="139"/>
                  </a:cubicBezTo>
                  <a:cubicBezTo>
                    <a:pt x="49" y="141"/>
                    <a:pt x="23" y="119"/>
                    <a:pt x="20" y="107"/>
                  </a:cubicBezTo>
                  <a:cubicBezTo>
                    <a:pt x="11" y="106"/>
                    <a:pt x="0" y="86"/>
                    <a:pt x="15" y="79"/>
                  </a:cubicBezTo>
                  <a:cubicBezTo>
                    <a:pt x="4" y="74"/>
                    <a:pt x="7" y="45"/>
                    <a:pt x="29" y="47"/>
                  </a:cubicBezTo>
                  <a:cubicBezTo>
                    <a:pt x="15" y="34"/>
                    <a:pt x="31" y="12"/>
                    <a:pt x="50" y="18"/>
                  </a:cubicBezTo>
                  <a:cubicBezTo>
                    <a:pt x="54" y="7"/>
                    <a:pt x="79" y="0"/>
                    <a:pt x="93" y="17"/>
                  </a:cubicBezTo>
                  <a:cubicBezTo>
                    <a:pt x="104" y="11"/>
                    <a:pt x="123" y="23"/>
                    <a:pt x="122" y="42"/>
                  </a:cubicBezTo>
                  <a:cubicBezTo>
                    <a:pt x="121" y="55"/>
                    <a:pt x="109" y="65"/>
                    <a:pt x="100" y="67"/>
                  </a:cubicBezTo>
                  <a:cubicBezTo>
                    <a:pt x="105" y="73"/>
                    <a:pt x="100" y="93"/>
                    <a:pt x="100" y="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3182781" y="2273228"/>
              <a:ext cx="90010" cy="140208"/>
            </a:xfrm>
            <a:custGeom>
              <a:rect b="b" l="l" r="r" t="t"/>
              <a:pathLst>
                <a:path extrusionOk="0" h="40" w="26">
                  <a:moveTo>
                    <a:pt x="1" y="15"/>
                  </a:moveTo>
                  <a:cubicBezTo>
                    <a:pt x="3" y="23"/>
                    <a:pt x="8" y="29"/>
                    <a:pt x="13" y="33"/>
                  </a:cubicBezTo>
                  <a:cubicBezTo>
                    <a:pt x="20" y="40"/>
                    <a:pt x="26" y="35"/>
                    <a:pt x="26" y="26"/>
                  </a:cubicBezTo>
                  <a:cubicBezTo>
                    <a:pt x="26" y="18"/>
                    <a:pt x="22" y="5"/>
                    <a:pt x="13" y="2"/>
                  </a:cubicBezTo>
                  <a:cubicBezTo>
                    <a:pt x="5" y="0"/>
                    <a:pt x="0" y="6"/>
                    <a:pt x="1" y="15"/>
                  </a:cubicBez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 rot="-881102">
              <a:off x="3231246" y="2145628"/>
              <a:ext cx="135015" cy="76162"/>
            </a:xfrm>
            <a:custGeom>
              <a:rect b="b" l="l" r="r" t="t"/>
              <a:pathLst>
                <a:path extrusionOk="0" h="44" w="78">
                  <a:moveTo>
                    <a:pt x="43" y="2"/>
                  </a:moveTo>
                  <a:lnTo>
                    <a:pt x="0" y="30"/>
                  </a:lnTo>
                  <a:lnTo>
                    <a:pt x="63" y="44"/>
                  </a:lnTo>
                  <a:lnTo>
                    <a:pt x="78" y="0"/>
                  </a:lnTo>
                  <a:lnTo>
                    <a:pt x="43" y="2"/>
                  </a:lnTo>
                  <a:close/>
                </a:path>
              </a:pathLst>
            </a:custGeom>
            <a:solidFill>
              <a:srgbClr val="7F3E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44" name="Google Shape;344;p3"/>
          <p:cNvSpPr/>
          <p:nvPr/>
        </p:nvSpPr>
        <p:spPr>
          <a:xfrm>
            <a:off x="1762018" y="4226001"/>
            <a:ext cx="3952578" cy="2155691"/>
          </a:xfrm>
          <a:prstGeom prst="roundRect">
            <a:avLst>
              <a:gd fmla="val 12335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función nos permite obtener información desde teclado?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4880612" y="1883123"/>
            <a:ext cx="6488428" cy="1693197"/>
          </a:xfrm>
          <a:prstGeom prst="roundRect">
            <a:avLst>
              <a:gd fmla="val 1401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Sí, la función input, por 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ingrese un nombre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3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Lectura de datos desde archivos</a:t>
            </a:r>
            <a:endParaRPr/>
          </a:p>
        </p:txBody>
      </p:sp>
      <p:sp>
        <p:nvSpPr>
          <p:cNvPr id="352" name="Google Shape;352;p4"/>
          <p:cNvSpPr/>
          <p:nvPr/>
        </p:nvSpPr>
        <p:spPr>
          <a:xfrm>
            <a:off x="1104899" y="1702676"/>
            <a:ext cx="9982202" cy="47286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Cuando necesitamos procesar grandes cantidades de datos es muy conveniente obtener la información desde otras fuentes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Sistemas interconectados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Aplicaciones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ourier New"/>
              <a:buChar char="o"/>
            </a:pPr>
            <a:r>
              <a:rPr b="1" i="0" lang="es-CL" sz="2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Archivos de 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archivo de texto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es una estructura de datos que nos permite guardar información con una determinada </a:t>
            </a:r>
            <a:r>
              <a:rPr b="1" i="0" lang="es-CL" sz="20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estructura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b="1" i="0" lang="es-CL" sz="20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formato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"/>
          <p:cNvSpPr/>
          <p:nvPr/>
        </p:nvSpPr>
        <p:spPr>
          <a:xfrm>
            <a:off x="8603226" y="4434348"/>
            <a:ext cx="3337600" cy="1943201"/>
          </a:xfrm>
          <a:prstGeom prst="roundRect">
            <a:avLst>
              <a:gd fmla="val 1432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podríamos decir del siguiente archivo?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5"/>
          <p:cNvPicPr preferRelativeResize="0"/>
          <p:nvPr/>
        </p:nvPicPr>
        <p:blipFill rotWithShape="1">
          <a:blip r:embed="rId3">
            <a:alphaModFix/>
          </a:blip>
          <a:srcRect b="6393" l="4407" r="4789" t="6121"/>
          <a:stretch/>
        </p:blipFill>
        <p:spPr>
          <a:xfrm>
            <a:off x="1111044" y="1052053"/>
            <a:ext cx="7295537" cy="4739148"/>
          </a:xfrm>
          <a:prstGeom prst="roundRect">
            <a:avLst>
              <a:gd fmla="val 4037" name="adj"/>
            </a:avLst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Lectura de datos desde archivos</a:t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1104900" y="1901821"/>
            <a:ext cx="6682249" cy="359691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archivo anterior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tiene las siguientes características: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información está separada por </a:t>
            </a: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líneas o registros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línea tiene 3 </a:t>
            </a: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campos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elemento separador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estos datos es la coma (,)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6"/>
          <p:cNvPicPr preferRelativeResize="0"/>
          <p:nvPr/>
        </p:nvPicPr>
        <p:blipFill rotWithShape="1">
          <a:blip r:embed="rId3">
            <a:alphaModFix/>
          </a:blip>
          <a:srcRect b="6393" l="4407" r="4789" t="6121"/>
          <a:stretch/>
        </p:blipFill>
        <p:spPr>
          <a:xfrm>
            <a:off x="8003459" y="2519175"/>
            <a:ext cx="3636418" cy="2362201"/>
          </a:xfrm>
          <a:prstGeom prst="roundRect">
            <a:avLst>
              <a:gd fmla="val 4037" name="adj"/>
            </a:avLst>
          </a:prstGeom>
          <a:noFill/>
          <a:ln>
            <a:noFill/>
          </a:ln>
        </p:spPr>
      </p:pic>
      <p:sp>
        <p:nvSpPr>
          <p:cNvPr id="367" name="Google Shape;367;p6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¿Cómo se lee desde un archivo en Python?</a:t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1104899" y="1702675"/>
            <a:ext cx="9982202" cy="3095467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primer paso es “abrir” el archivo que quieres leer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 la función open para abrir un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8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nombreArchivo</a:t>
            </a:r>
            <a:r>
              <a:rPr b="0" i="0" lang="es-CL" sz="2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modoAcceso</a:t>
            </a:r>
            <a:r>
              <a:rPr b="0" i="0" lang="es-CL" sz="28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6479459" y="4503175"/>
            <a:ext cx="4969236" cy="2018014"/>
          </a:xfrm>
          <a:prstGeom prst="roundRect">
            <a:avLst>
              <a:gd fmla="val 1422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Debes especificar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nombre del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modo de acceso al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¿Qué es el nombre del archivo?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1104898" y="1702676"/>
            <a:ext cx="4043173" cy="423774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nombre del archivo es el nombre visible del archivo, incluyendo su extensión: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datos.txt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montos.txt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archivo debe ser creado en la misma carpeta que tu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9405" y="1702676"/>
            <a:ext cx="6297572" cy="3136904"/>
          </a:xfrm>
          <a:prstGeom prst="roundRect">
            <a:avLst>
              <a:gd fmla="val 6343" name="adj"/>
            </a:avLst>
          </a:prstGeom>
          <a:noFill/>
          <a:ln>
            <a:noFill/>
          </a:ln>
        </p:spPr>
      </p:pic>
      <p:sp>
        <p:nvSpPr>
          <p:cNvPr id="383" name="Google Shape;383;p8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/>
          <p:nvPr/>
        </p:nvSpPr>
        <p:spPr>
          <a:xfrm>
            <a:off x="1104900" y="1883123"/>
            <a:ext cx="9916962" cy="1569678"/>
          </a:xfrm>
          <a:prstGeom prst="roundRect">
            <a:avLst>
              <a:gd fmla="val 118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modo de acceso especifica qué vas a hacer con el archivo una vez que lo abres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Puedes especificar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¿Qué es el modo de acceso?</a:t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1096812" y="1916429"/>
            <a:ext cx="9925050" cy="3615070"/>
          </a:xfrm>
          <a:prstGeom prst="roundRect">
            <a:avLst>
              <a:gd fmla="val 63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1096812" y="1883124"/>
            <a:ext cx="9925050" cy="727203"/>
          </a:xfrm>
          <a:prstGeom prst="roundRect">
            <a:avLst>
              <a:gd fmla="val 19588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92" name="Google Shape;392;p9"/>
          <p:cNvGraphicFramePr/>
          <p:nvPr/>
        </p:nvGraphicFramePr>
        <p:xfrm>
          <a:off x="1217202" y="18831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{A8525002-BF04-401B-A05A-AD5E5B36B747}</a:tableStyleId>
              </a:tblPr>
              <a:tblGrid>
                <a:gridCol w="2679400"/>
                <a:gridCol w="7117175"/>
              </a:tblGrid>
              <a:tr h="77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s-CL" sz="2400" u="none" cap="none" strike="noStrike">
                          <a:solidFill>
                            <a:srgbClr val="FFFFFF"/>
                          </a:solidFill>
                        </a:rPr>
                        <a:t>Modo de acceso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s-CL" sz="2400" u="none" cap="none" strike="noStrike">
                          <a:solidFill>
                            <a:srgbClr val="FFFFFF"/>
                          </a:solidFill>
                        </a:rPr>
                        <a:t>Acción</a:t>
                      </a:r>
                      <a:endParaRPr sz="1400" u="none" cap="none" strike="noStrike"/>
                    </a:p>
                  </a:txBody>
                  <a:tcPr marT="0" marB="0" marR="0" marL="0" anchor="ctr"/>
                </a:tc>
              </a:tr>
              <a:tr h="71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Poppins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</a:rPr>
                        <a:t>r</a:t>
                      </a:r>
                      <a:endParaRPr sz="14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Poppins"/>
                        <a:buNone/>
                      </a:pPr>
                      <a:r>
                        <a:rPr b="0" lang="es-CL" sz="2400" u="none" cap="none" strike="noStrike">
                          <a:solidFill>
                            <a:srgbClr val="000000"/>
                          </a:solidFill>
                        </a:rPr>
                        <a:t>Leer el archivo</a:t>
                      </a:r>
                      <a:endParaRPr sz="1400" u="none" cap="none" strike="noStrike"/>
                    </a:p>
                  </a:txBody>
                  <a:tcPr marT="0" marB="0" marR="182875" marL="0" anchor="ctr"/>
                </a:tc>
              </a:tr>
              <a:tr h="74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Poppins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</a:rPr>
                        <a:t>w</a:t>
                      </a:r>
                      <a:endParaRPr sz="14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Poppins"/>
                        <a:buNone/>
                      </a:pPr>
                      <a:r>
                        <a:rPr b="0" lang="es-CL" sz="2400" u="none" cap="none" strike="noStrike">
                          <a:solidFill>
                            <a:srgbClr val="000000"/>
                          </a:solidFill>
                        </a:rPr>
                        <a:t>Escribir al archivo (potencialmente sobrescribiendo las cosas que ya están ahí)</a:t>
                      </a:r>
                      <a:endParaRPr sz="1400" u="none" cap="none" strike="noStrike"/>
                    </a:p>
                  </a:txBody>
                  <a:tcPr marT="0" marB="0" marR="182875" marL="0" anchor="ctr"/>
                </a:tc>
              </a:tr>
              <a:tr h="74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Poppins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</a:rPr>
                        <a:t>a</a:t>
                      </a:r>
                      <a:endParaRPr sz="14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Poppins"/>
                        <a:buNone/>
                      </a:pPr>
                      <a:r>
                        <a:rPr b="0" lang="es-CL" sz="2400" u="none" cap="none" strike="noStrike">
                          <a:solidFill>
                            <a:srgbClr val="000000"/>
                          </a:solidFill>
                        </a:rPr>
                        <a:t>Agregar al final del archivo existente</a:t>
                      </a:r>
                      <a:endParaRPr sz="1400" u="none" cap="none" strike="noStrike"/>
                    </a:p>
                  </a:txBody>
                  <a:tcPr marT="0" marB="0" marR="182875" marL="0" anchor="ctr"/>
                </a:tc>
              </a:tr>
              <a:tr h="55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Poppins"/>
                        <a:buNone/>
                      </a:pPr>
                      <a:r>
                        <a:rPr b="1" lang="es-CL" sz="2400" u="none" cap="none" strike="noStrike">
                          <a:solidFill>
                            <a:schemeClr val="dk1"/>
                          </a:solidFill>
                        </a:rPr>
                        <a:t>b</a:t>
                      </a:r>
                      <a:endParaRPr sz="14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Poppins"/>
                        <a:buNone/>
                      </a:pPr>
                      <a:r>
                        <a:rPr b="0" lang="es-CL" sz="2400" u="none" cap="none" strike="noStrike">
                          <a:solidFill>
                            <a:srgbClr val="000000"/>
                          </a:solidFill>
                        </a:rPr>
                        <a:t>Abrir un archivo binario</a:t>
                      </a:r>
                      <a:endParaRPr sz="1400" u="none" cap="none" strike="noStrike"/>
                    </a:p>
                  </a:txBody>
                  <a:tcPr marT="0" marB="0" marR="182875" marL="0" anchor="ctr"/>
                </a:tc>
              </a:tr>
            </a:tbl>
          </a:graphicData>
        </a:graphic>
      </p:graphicFrame>
      <p:sp>
        <p:nvSpPr>
          <p:cNvPr id="393" name="Google Shape;393;p9"/>
          <p:cNvSpPr/>
          <p:nvPr/>
        </p:nvSpPr>
        <p:spPr>
          <a:xfrm flipH="1">
            <a:off x="6381135" y="2698263"/>
            <a:ext cx="4143990" cy="521109"/>
          </a:xfrm>
          <a:prstGeom prst="homePlate">
            <a:avLst>
              <a:gd fmla="val 59434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 usaremos nosotros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Ubicación del archivo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1104899" y="1702676"/>
            <a:ext cx="9982202" cy="1850150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Normalmente, los archivos se leen desde el mismo lugar donde está el archivo “.py” que contiene el código de mi programa.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Procesando el archivo puntajes psu.txt</a:t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1104901" y="1901821"/>
            <a:ext cx="5372100" cy="36703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procesar el archivo, debemos crearlo y guardarlo en la misma carpeta donde va a estar guardado nuestro proyecto (código)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 vez que hayas ubicado la carpeta de tu proyecto, crea el siguiente archivo: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11"/>
          <p:cNvPicPr preferRelativeResize="0"/>
          <p:nvPr/>
        </p:nvPicPr>
        <p:blipFill rotWithShape="1">
          <a:blip r:embed="rId3">
            <a:alphaModFix/>
          </a:blip>
          <a:srcRect b="6393" l="4407" r="4789" t="6121"/>
          <a:stretch/>
        </p:blipFill>
        <p:spPr>
          <a:xfrm>
            <a:off x="6686550" y="2385403"/>
            <a:ext cx="4905702" cy="3186722"/>
          </a:xfrm>
          <a:prstGeom prst="roundRect">
            <a:avLst>
              <a:gd fmla="val 4037" name="adj"/>
            </a:avLst>
          </a:prstGeom>
          <a:noFill/>
          <a:ln>
            <a:noFill/>
          </a:ln>
        </p:spPr>
      </p:pic>
      <p:sp>
        <p:nvSpPr>
          <p:cNvPr id="409" name="Google Shape;409;p11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Procesando un archivo de texto</a:t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1104899" y="1702676"/>
            <a:ext cx="9982202" cy="47286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Cuando trabajamos con un archivo de texto demasiado grande, no sabemos cuántas líneas o registros tiene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¿De qué manera podríamos procesar cada línea o registro del archivo de texto sin saber cuántas son?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Sí, con un ciclo, pero no cualquier ciclo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Para este caso </a:t>
            </a:r>
            <a:r>
              <a:rPr b="1" i="0" lang="es-CL" sz="20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necesitamos un ciclo while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 una “marca de fin de datos”. En este caso, la marca de fin de datos sería hasta que la última línea está vacía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Algo así como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Una primera aproximación</a:t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1104899" y="1702676"/>
            <a:ext cx="8210551" cy="255499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puntajes psu.txt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encoding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utf-8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1104900" y="4476749"/>
            <a:ext cx="4800600" cy="1933576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Realice este ejercicio en su computador para ver los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736634" y="3622936"/>
            <a:ext cx="4969236" cy="2787389"/>
          </a:xfrm>
          <a:prstGeom prst="roundRect">
            <a:avLst>
              <a:gd fmla="val 7375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8627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Fíjate que estamos leyendo todas las líneas, como un string.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Pero para que podamos procesar el contenido de cada línea, necesitamos “separar” cada 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8400694" y="447675"/>
            <a:ext cx="3305176" cy="1379988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Marcelo,UCN,785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Ignacio,UA,345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Ricardo,UCN,845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Romina,UA,650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6" name="Google Shape;426;p13"/>
          <p:cNvGrpSpPr/>
          <p:nvPr/>
        </p:nvGrpSpPr>
        <p:grpSpPr>
          <a:xfrm rot="-10262583">
            <a:off x="8057442" y="1553216"/>
            <a:ext cx="482668" cy="482251"/>
            <a:chOff x="6170613" y="1512888"/>
            <a:chExt cx="1838325" cy="1836738"/>
          </a:xfrm>
        </p:grpSpPr>
        <p:sp>
          <p:nvSpPr>
            <p:cNvPr id="427" name="Google Shape;427;p13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29" name="Google Shape;429;p13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Separando un string en componentes</a:t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1104899" y="1702676"/>
            <a:ext cx="5074985" cy="4850524"/>
          </a:xfrm>
          <a:prstGeom prst="roundRect">
            <a:avLst>
              <a:gd fmla="val 47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hola,chao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inicio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fin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el inicio 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inicio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el fin 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fin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1,2,3,4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texto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6819900" y="4476749"/>
            <a:ext cx="4800600" cy="1933576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Realice este ejercicio en su computador para ver los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498232" y="1858771"/>
            <a:ext cx="3305176" cy="2340358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 inicio es hola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 fin es chao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38" name="Google Shape;438;p14"/>
          <p:cNvGrpSpPr/>
          <p:nvPr/>
        </p:nvGrpSpPr>
        <p:grpSpPr>
          <a:xfrm rot="-8072313">
            <a:off x="6578565" y="3115316"/>
            <a:ext cx="482668" cy="482251"/>
            <a:chOff x="6170613" y="1512888"/>
            <a:chExt cx="1838325" cy="1836738"/>
          </a:xfrm>
        </p:grpSpPr>
        <p:sp>
          <p:nvSpPr>
            <p:cNvPr id="439" name="Google Shape;439;p14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41" name="Google Shape;441;p14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Procesando el archivo puntajes psu.txt</a:t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1104901" y="1901821"/>
            <a:ext cx="5372100" cy="36703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Según el siguiente archivo “puntajes psu.txt”, desplegar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Nombre, universidad y puntaje de cada alumno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15"/>
          <p:cNvPicPr preferRelativeResize="0"/>
          <p:nvPr/>
        </p:nvPicPr>
        <p:blipFill rotWithShape="1">
          <a:blip r:embed="rId3">
            <a:alphaModFix/>
          </a:blip>
          <a:srcRect b="6393" l="4407" r="4789" t="6121"/>
          <a:stretch/>
        </p:blipFill>
        <p:spPr>
          <a:xfrm>
            <a:off x="6686550" y="2385403"/>
            <a:ext cx="4905702" cy="3186722"/>
          </a:xfrm>
          <a:prstGeom prst="roundRect">
            <a:avLst>
              <a:gd fmla="val 4037" name="adj"/>
            </a:avLst>
          </a:prstGeom>
          <a:noFill/>
          <a:ln>
            <a:noFill/>
          </a:ln>
        </p:spPr>
      </p:pic>
      <p:sp>
        <p:nvSpPr>
          <p:cNvPr id="449" name="Google Shape;449;p15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Procesando el archivo puntajes psu.txt</a:t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1104899" y="1702676"/>
            <a:ext cx="9158453" cy="401232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puntajes psu.txt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encoding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utf-8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partes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alumno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universidad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puntaje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alumno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universidad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puntaje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924800" y="2724149"/>
            <a:ext cx="3914420" cy="159525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Marcelo , UCN , 785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Ignacio , UA , 345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Ricardo , UCN , 845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Romina , UA , 650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57" name="Google Shape;457;p16"/>
          <p:cNvGrpSpPr/>
          <p:nvPr/>
        </p:nvGrpSpPr>
        <p:grpSpPr>
          <a:xfrm rot="-7949853">
            <a:off x="7524042" y="3349638"/>
            <a:ext cx="482668" cy="482251"/>
            <a:chOff x="6170613" y="1512888"/>
            <a:chExt cx="1838325" cy="1836738"/>
          </a:xfrm>
        </p:grpSpPr>
        <p:sp>
          <p:nvSpPr>
            <p:cNvPr id="458" name="Google Shape;458;p16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60" name="Google Shape;460;p16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¿Cómo entender la lectura de un archivo?</a:t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215429" y="2272580"/>
            <a:ext cx="3914420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Marcelo,UCN,785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17"/>
          <p:cNvGrpSpPr/>
          <p:nvPr/>
        </p:nvGrpSpPr>
        <p:grpSpPr>
          <a:xfrm>
            <a:off x="1104898" y="1702675"/>
            <a:ext cx="3839242" cy="2869325"/>
            <a:chOff x="1104898" y="1702675"/>
            <a:chExt cx="3839242" cy="2869325"/>
          </a:xfrm>
        </p:grpSpPr>
        <p:sp>
          <p:nvSpPr>
            <p:cNvPr id="468" name="Google Shape;468;p17"/>
            <p:cNvSpPr/>
            <p:nvPr/>
          </p:nvSpPr>
          <p:spPr>
            <a:xfrm>
              <a:off x="1104899" y="1702676"/>
              <a:ext cx="3839241" cy="2869324"/>
            </a:xfrm>
            <a:prstGeom prst="roundRect">
              <a:avLst>
                <a:gd fmla="val 785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1" anchor="t" bIns="0" lIns="0" spcFirstLastPara="1" rIns="0" wrap="square" tIns="64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Marcelo,UCN,785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Ignacio,UA,345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Ricardo,UCN,845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Romina,UA,650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1104898" y="1702675"/>
              <a:ext cx="3839241" cy="670643"/>
            </a:xfrm>
            <a:prstGeom prst="roundRect">
              <a:avLst>
                <a:gd fmla="val 3442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s-CL" sz="2800" u="none" cap="none" strike="noStrike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puntajes psu.txt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17"/>
          <p:cNvSpPr/>
          <p:nvPr/>
        </p:nvSpPr>
        <p:spPr>
          <a:xfrm>
            <a:off x="1104898" y="5443349"/>
            <a:ext cx="9925050" cy="81158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puntajes psu.txt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4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encoding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utf-8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71" name="Google Shape;471;p17"/>
          <p:cNvGrpSpPr/>
          <p:nvPr/>
        </p:nvGrpSpPr>
        <p:grpSpPr>
          <a:xfrm>
            <a:off x="1104897" y="1702675"/>
            <a:ext cx="3839242" cy="2869325"/>
            <a:chOff x="1104898" y="1702675"/>
            <a:chExt cx="3839242" cy="2869325"/>
          </a:xfrm>
        </p:grpSpPr>
        <p:sp>
          <p:nvSpPr>
            <p:cNvPr id="472" name="Google Shape;472;p17"/>
            <p:cNvSpPr/>
            <p:nvPr/>
          </p:nvSpPr>
          <p:spPr>
            <a:xfrm>
              <a:off x="1104899" y="1702676"/>
              <a:ext cx="3839241" cy="2869324"/>
            </a:xfrm>
            <a:prstGeom prst="roundRect">
              <a:avLst>
                <a:gd fmla="val 785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1" anchor="t" bIns="0" lIns="0" spcFirstLastPara="1" rIns="0" wrap="square" tIns="64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Marcelo,UCN,785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Ignacio,UA,345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Ricardo,UCN,845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s-CL" sz="32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Romina,UA,650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1104898" y="1702675"/>
              <a:ext cx="3839241" cy="670643"/>
            </a:xfrm>
            <a:prstGeom prst="roundRect">
              <a:avLst>
                <a:gd fmla="val 34423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s-CL" sz="2800" u="none" cap="none" strike="noStrike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arch</a:t>
              </a:r>
              <a:endParaRPr b="1" i="0" sz="2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474" name="Google Shape;474;p17"/>
          <p:cNvSpPr/>
          <p:nvPr/>
        </p:nvSpPr>
        <p:spPr>
          <a:xfrm>
            <a:off x="1104897" y="5443348"/>
            <a:ext cx="9925050" cy="81158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75" name="Google Shape;475;p17"/>
          <p:cNvGrpSpPr/>
          <p:nvPr/>
        </p:nvGrpSpPr>
        <p:grpSpPr>
          <a:xfrm rot="-7949853">
            <a:off x="4793535" y="2439845"/>
            <a:ext cx="482668" cy="482251"/>
            <a:chOff x="6170613" y="1512888"/>
            <a:chExt cx="1838325" cy="1836738"/>
          </a:xfrm>
        </p:grpSpPr>
        <p:sp>
          <p:nvSpPr>
            <p:cNvPr id="476" name="Google Shape;476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77" name="Google Shape;477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78" name="Google Shape;478;p17"/>
          <p:cNvSpPr txBox="1"/>
          <p:nvPr/>
        </p:nvSpPr>
        <p:spPr>
          <a:xfrm>
            <a:off x="5659668" y="1690693"/>
            <a:ext cx="3025942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Poppins"/>
              <a:buNone/>
            </a:pPr>
            <a:r>
              <a:rPr b="1" i="0" lang="es-CL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1104896" y="5443348"/>
            <a:ext cx="9925050" cy="81158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9413829" y="2272580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Marcelo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9413829" y="3096752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UCN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9413829" y="3920924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785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17"/>
          <p:cNvGrpSpPr/>
          <p:nvPr/>
        </p:nvGrpSpPr>
        <p:grpSpPr>
          <a:xfrm rot="-7949853">
            <a:off x="8985870" y="2448090"/>
            <a:ext cx="460417" cy="460018"/>
            <a:chOff x="6170613" y="1512888"/>
            <a:chExt cx="1838325" cy="1836738"/>
          </a:xfrm>
        </p:grpSpPr>
        <p:sp>
          <p:nvSpPr>
            <p:cNvPr id="484" name="Google Shape;484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86" name="Google Shape;486;p17"/>
          <p:cNvGrpSpPr/>
          <p:nvPr/>
        </p:nvGrpSpPr>
        <p:grpSpPr>
          <a:xfrm rot="-6758344">
            <a:off x="8987273" y="3135032"/>
            <a:ext cx="460417" cy="460018"/>
            <a:chOff x="6170613" y="1512888"/>
            <a:chExt cx="1838325" cy="1836738"/>
          </a:xfrm>
        </p:grpSpPr>
        <p:sp>
          <p:nvSpPr>
            <p:cNvPr id="487" name="Google Shape;487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89" name="Google Shape;489;p17"/>
          <p:cNvGrpSpPr/>
          <p:nvPr/>
        </p:nvGrpSpPr>
        <p:grpSpPr>
          <a:xfrm rot="-6514328">
            <a:off x="8746754" y="3727516"/>
            <a:ext cx="460417" cy="460018"/>
            <a:chOff x="6170613" y="1512888"/>
            <a:chExt cx="1838325" cy="1836738"/>
          </a:xfrm>
        </p:grpSpPr>
        <p:sp>
          <p:nvSpPr>
            <p:cNvPr id="490" name="Google Shape;490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92" name="Google Shape;492;p17"/>
          <p:cNvSpPr txBox="1"/>
          <p:nvPr/>
        </p:nvSpPr>
        <p:spPr>
          <a:xfrm>
            <a:off x="8819910" y="1633501"/>
            <a:ext cx="3025942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Poppins"/>
              <a:buNone/>
            </a:pPr>
            <a:r>
              <a:rPr b="1" i="0" lang="es-CL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partes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5375688" y="4572000"/>
            <a:ext cx="3025942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Poppins"/>
              <a:buNone/>
            </a:pPr>
            <a:r>
              <a:rPr b="1" i="0" lang="es-CL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¿Por qué </a:t>
            </a:r>
            <a:r>
              <a:rPr b="0" i="0" lang="es-CL" sz="32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32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32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0" lang="es-CL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i="0" sz="32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104896" y="5443347"/>
            <a:ext cx="9925050" cy="81158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95" name="Google Shape;495;p17"/>
          <p:cNvGrpSpPr/>
          <p:nvPr/>
        </p:nvGrpSpPr>
        <p:grpSpPr>
          <a:xfrm>
            <a:off x="4694050" y="2165637"/>
            <a:ext cx="4435799" cy="1393468"/>
            <a:chOff x="4846450" y="1843093"/>
            <a:chExt cx="4435799" cy="1393468"/>
          </a:xfrm>
        </p:grpSpPr>
        <p:sp>
          <p:nvSpPr>
            <p:cNvPr id="496" name="Google Shape;496;p17"/>
            <p:cNvSpPr/>
            <p:nvPr/>
          </p:nvSpPr>
          <p:spPr>
            <a:xfrm>
              <a:off x="5367829" y="2424980"/>
              <a:ext cx="3914420" cy="811581"/>
            </a:xfrm>
            <a:prstGeom prst="roundRect">
              <a:avLst>
                <a:gd fmla="val 7853" name="adj"/>
              </a:avLst>
            </a:prstGeom>
            <a:solidFill>
              <a:srgbClr val="FFFFFF"/>
            </a:solidFill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504000" spcFirstLastPara="1" rIns="2743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s-CL" sz="2800" u="none" cap="none" strike="noStrike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Ignacio,UA,345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7" name="Google Shape;497;p17"/>
            <p:cNvGrpSpPr/>
            <p:nvPr/>
          </p:nvGrpSpPr>
          <p:grpSpPr>
            <a:xfrm rot="-7949853">
              <a:off x="4945935" y="2592245"/>
              <a:ext cx="482668" cy="482251"/>
              <a:chOff x="6170613" y="1512888"/>
              <a:chExt cx="1838325" cy="1836738"/>
            </a:xfrm>
          </p:grpSpPr>
          <p:sp>
            <p:nvSpPr>
              <p:cNvPr id="498" name="Google Shape;498;p17"/>
              <p:cNvSpPr/>
              <p:nvPr/>
            </p:nvSpPr>
            <p:spPr>
              <a:xfrm>
                <a:off x="6473825" y="1512888"/>
                <a:ext cx="1535113" cy="1535113"/>
              </a:xfrm>
              <a:custGeom>
                <a:rect b="b" l="l" r="r" t="t"/>
                <a:pathLst>
                  <a:path extrusionOk="0" h="407" w="407">
                    <a:moveTo>
                      <a:pt x="396" y="197"/>
                    </a:moveTo>
                    <a:cubicBezTo>
                      <a:pt x="210" y="11"/>
                      <a:pt x="210" y="11"/>
                      <a:pt x="210" y="11"/>
                    </a:cubicBezTo>
                    <a:cubicBezTo>
                      <a:pt x="199" y="0"/>
                      <a:pt x="181" y="0"/>
                      <a:pt x="170" y="11"/>
                    </a:cubicBezTo>
                    <a:cubicBezTo>
                      <a:pt x="11" y="170"/>
                      <a:pt x="11" y="170"/>
                      <a:pt x="11" y="170"/>
                    </a:cubicBezTo>
                    <a:cubicBezTo>
                      <a:pt x="0" y="181"/>
                      <a:pt x="0" y="199"/>
                      <a:pt x="11" y="210"/>
                    </a:cubicBezTo>
                    <a:cubicBezTo>
                      <a:pt x="197" y="396"/>
                      <a:pt x="197" y="396"/>
                      <a:pt x="197" y="396"/>
                    </a:cubicBezTo>
                    <a:cubicBezTo>
                      <a:pt x="208" y="407"/>
                      <a:pt x="226" y="407"/>
                      <a:pt x="237" y="396"/>
                    </a:cubicBezTo>
                    <a:cubicBezTo>
                      <a:pt x="396" y="237"/>
                      <a:pt x="396" y="237"/>
                      <a:pt x="396" y="237"/>
                    </a:cubicBezTo>
                    <a:cubicBezTo>
                      <a:pt x="407" y="226"/>
                      <a:pt x="407" y="208"/>
                      <a:pt x="396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381000" rotWithShape="0" algn="ctr" dir="5400000" dist="127000">
                  <a:srgbClr val="000000">
                    <a:alpha val="28627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6170613" y="1617663"/>
                <a:ext cx="1736725" cy="1731963"/>
              </a:xfrm>
              <a:custGeom>
                <a:rect b="b" l="l" r="r" t="t"/>
                <a:pathLst>
                  <a:path extrusionOk="0" h="459" w="460">
                    <a:moveTo>
                      <a:pt x="434" y="390"/>
                    </a:moveTo>
                    <a:cubicBezTo>
                      <a:pt x="69" y="25"/>
                      <a:pt x="69" y="25"/>
                      <a:pt x="69" y="25"/>
                    </a:cubicBezTo>
                    <a:cubicBezTo>
                      <a:pt x="44" y="0"/>
                      <a:pt x="0" y="18"/>
                      <a:pt x="0" y="54"/>
                    </a:cubicBezTo>
                    <a:cubicBezTo>
                      <a:pt x="0" y="419"/>
                      <a:pt x="0" y="419"/>
                      <a:pt x="0" y="419"/>
                    </a:cubicBezTo>
                    <a:cubicBezTo>
                      <a:pt x="0" y="441"/>
                      <a:pt x="18" y="459"/>
                      <a:pt x="40" y="459"/>
                    </a:cubicBezTo>
                    <a:cubicBezTo>
                      <a:pt x="406" y="459"/>
                      <a:pt x="406" y="459"/>
                      <a:pt x="406" y="459"/>
                    </a:cubicBezTo>
                    <a:cubicBezTo>
                      <a:pt x="442" y="459"/>
                      <a:pt x="460" y="416"/>
                      <a:pt x="434" y="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381000" rotWithShape="0" algn="ctr" dir="5400000" dist="127000">
                  <a:srgbClr val="000000">
                    <a:alpha val="28627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0" name="Google Shape;500;p17"/>
            <p:cNvSpPr txBox="1"/>
            <p:nvPr/>
          </p:nvSpPr>
          <p:spPr>
            <a:xfrm>
              <a:off x="5812068" y="1843093"/>
              <a:ext cx="3025942" cy="682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91425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200"/>
                <a:buFont typeface="Poppins"/>
                <a:buNone/>
              </a:pPr>
              <a:r>
                <a:rPr b="1" i="0" lang="es-CL" sz="32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línea</a:t>
              </a:r>
              <a:endParaRPr b="1" i="0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01" name="Google Shape;501;p17"/>
          <p:cNvSpPr/>
          <p:nvPr/>
        </p:nvSpPr>
        <p:spPr>
          <a:xfrm>
            <a:off x="1104894" y="5443347"/>
            <a:ext cx="9925050" cy="81158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partes 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413829" y="2275500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Ignacio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9413829" y="3099672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9413829" y="3923844"/>
            <a:ext cx="1838104" cy="81158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345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17"/>
          <p:cNvGrpSpPr/>
          <p:nvPr/>
        </p:nvGrpSpPr>
        <p:grpSpPr>
          <a:xfrm rot="-7949853">
            <a:off x="8985870" y="2451010"/>
            <a:ext cx="460417" cy="460018"/>
            <a:chOff x="6170613" y="1512888"/>
            <a:chExt cx="1838325" cy="1836738"/>
          </a:xfrm>
        </p:grpSpPr>
        <p:sp>
          <p:nvSpPr>
            <p:cNvPr id="506" name="Google Shape;506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08" name="Google Shape;508;p17"/>
          <p:cNvGrpSpPr/>
          <p:nvPr/>
        </p:nvGrpSpPr>
        <p:grpSpPr>
          <a:xfrm rot="-6758344">
            <a:off x="8987273" y="3137952"/>
            <a:ext cx="460417" cy="460018"/>
            <a:chOff x="6170613" y="1512888"/>
            <a:chExt cx="1838325" cy="1836738"/>
          </a:xfrm>
        </p:grpSpPr>
        <p:sp>
          <p:nvSpPr>
            <p:cNvPr id="509" name="Google Shape;509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11" name="Google Shape;511;p17"/>
          <p:cNvGrpSpPr/>
          <p:nvPr/>
        </p:nvGrpSpPr>
        <p:grpSpPr>
          <a:xfrm rot="-6514328">
            <a:off x="8746754" y="3730436"/>
            <a:ext cx="460417" cy="460018"/>
            <a:chOff x="6170613" y="1512888"/>
            <a:chExt cx="1838325" cy="1836738"/>
          </a:xfrm>
        </p:grpSpPr>
        <p:sp>
          <p:nvSpPr>
            <p:cNvPr id="512" name="Google Shape;512;p17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14" name="Google Shape;514;p17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Otro ejercicio</a:t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1104901" y="1901821"/>
            <a:ext cx="5372100" cy="36703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Según el siguiente archivo “puntajes psu.txt”, desplegar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Determine el promedio de puntajes PSU de los alumnos de la UCN.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18"/>
          <p:cNvPicPr preferRelativeResize="0"/>
          <p:nvPr/>
        </p:nvPicPr>
        <p:blipFill rotWithShape="1">
          <a:blip r:embed="rId3">
            <a:alphaModFix/>
          </a:blip>
          <a:srcRect b="6393" l="4407" r="4789" t="6121"/>
          <a:stretch/>
        </p:blipFill>
        <p:spPr>
          <a:xfrm>
            <a:off x="6686550" y="2385403"/>
            <a:ext cx="4905702" cy="3186722"/>
          </a:xfrm>
          <a:prstGeom prst="roundRect">
            <a:avLst>
              <a:gd fmla="val 4037" name="adj"/>
            </a:avLst>
          </a:prstGeom>
          <a:noFill/>
          <a:ln>
            <a:noFill/>
          </a:ln>
        </p:spPr>
      </p:pic>
      <p:sp>
        <p:nvSpPr>
          <p:cNvPr id="522" name="Google Shape;522;p18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Lectura de datos desde archivos</a:t>
            </a:r>
            <a:endParaRPr/>
          </a:p>
        </p:txBody>
      </p:sp>
      <p:sp>
        <p:nvSpPr>
          <p:cNvPr id="528" name="Google Shape;528;p19"/>
          <p:cNvSpPr/>
          <p:nvPr/>
        </p:nvSpPr>
        <p:spPr>
          <a:xfrm>
            <a:off x="1104899" y="1702676"/>
            <a:ext cx="9982202" cy="3531476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Hagamos un refino de la solución: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1: 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leer cada línea del archivo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2: 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verificar si es un alumno de la UCN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3: 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es alumno de la UCN, sumar su puntaje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4: </a:t>
            </a:r>
            <a:r>
              <a:rPr b="0" i="0" lang="es-CL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y desplegar promedio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9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Procesando el archivo puntajes psu.txt</a:t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3552891" y="615954"/>
            <a:ext cx="8326217" cy="5856750"/>
          </a:xfrm>
          <a:prstGeom prst="roundRect">
            <a:avLst>
              <a:gd fmla="val 378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arch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puntajes psu.txt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encoding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utf-8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suma_puntaje_ucn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cont_alumnos_ucn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partes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linea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alumno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universidad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puntaje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A3E9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partes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universidad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UCN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suma_puntaje_ucn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puntaje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    cont_alumnos_ucn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linea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arch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readline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strip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cont_alumnos_ucn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no hay alumnos de la UCN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promedio 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suma_puntaje_ucn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cont_alumnos_ucn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CL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CL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el promedio es: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',</a:t>
            </a:r>
            <a:r>
              <a:rPr b="0" i="0" lang="es-CL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promedio</a:t>
            </a:r>
            <a:r>
              <a:rPr b="0" i="0" lang="es-CL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571284" y="3959375"/>
            <a:ext cx="2338273" cy="159525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¿Por qué este código?</a:t>
            </a:r>
            <a:endParaRPr b="1" i="0" sz="2000" u="none" cap="none" strike="noStrike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7" name="Google Shape;537;p20"/>
          <p:cNvGrpSpPr/>
          <p:nvPr/>
        </p:nvGrpSpPr>
        <p:grpSpPr>
          <a:xfrm rot="-7949853">
            <a:off x="2970739" y="4661037"/>
            <a:ext cx="482668" cy="482251"/>
            <a:chOff x="6170613" y="1512888"/>
            <a:chExt cx="1838325" cy="1836738"/>
          </a:xfrm>
        </p:grpSpPr>
        <p:sp>
          <p:nvSpPr>
            <p:cNvPr id="538" name="Google Shape;538;p20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862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40" name="Google Shape;540;p20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CL"/>
              <a:t>Trabajo autónomo mínimo</a:t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7 del libro guía.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ejercicios 3, 5, 6, 7, 9.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21"/>
          <p:cNvSpPr txBox="1"/>
          <p:nvPr/>
        </p:nvSpPr>
        <p:spPr>
          <a:xfrm>
            <a:off x="1112989" y="615954"/>
            <a:ext cx="234775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Lectura de Archivos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