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xiIz36H62qrWIBKoAHjie6NFR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7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6.xml"/><Relationship Id="rId32" Type="http://schemas.openxmlformats.org/officeDocument/2006/relationships/font" Target="fonts/Poppi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336" name="Google Shape;3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Esto se puede resolver usando dos listas: una con las ciudades y la otra que vaya contando la cantidad de personas “en riesgo” para cada ciudad.</a:t>
            </a:r>
            <a:endParaRPr/>
          </a:p>
        </p:txBody>
      </p:sp>
      <p:sp>
        <p:nvSpPr>
          <p:cNvPr id="361" name="Google Shape;3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437" name="Google Shape;4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490" name="Google Shape;49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Esto se puede resolver usando dos listas: una con las ciudades y la otra que vaya contando la cantidad de personas “en riesgo” para cada ciudad.</a:t>
            </a:r>
            <a:endParaRPr/>
          </a:p>
        </p:txBody>
      </p:sp>
      <p:sp>
        <p:nvSpPr>
          <p:cNvPr id="556" name="Google Shape;5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564" name="Google Shape;56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Esto se resuelve usando solo un contador general y listo.</a:t>
            </a:r>
            <a:endParaRPr/>
          </a:p>
        </p:txBody>
      </p:sp>
      <p:sp>
        <p:nvSpPr>
          <p:cNvPr id="622" name="Google Shape;6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6" name="Google Shape;16;p2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5" name="Google Shape;25;p32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32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32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0" name="Google Shape;30;p33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1" name="Google Shape;31;p33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2" name="Google Shape;32;p33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235"/>
              </a:srgbClr>
            </a:outerShdw>
          </a:effectLst>
        </p:spPr>
      </p:sp>
      <p:sp>
        <p:nvSpPr>
          <p:cNvPr id="35" name="Google Shape;35;p34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235"/>
              </a:srgbClr>
            </a:outerShdw>
          </a:effectLst>
        </p:spPr>
      </p:sp>
      <p:sp>
        <p:nvSpPr>
          <p:cNvPr id="38" name="Google Shape;38;p35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35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35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235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6" name="Google Shape;46;p37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7" name="Google Shape;47;p37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8" name="Google Shape;48;p37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9" name="Google Shape;49;p37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8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4" name="Google Shape;54;p38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5" name="Google Shape;55;p38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38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7" name="Google Shape;57;p38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0" name="Google Shape;60;p39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8235"/>
              </a:srgbClr>
            </a:outerShdw>
          </a:effectLst>
        </p:spPr>
      </p:sp>
      <p:sp>
        <p:nvSpPr>
          <p:cNvPr id="67" name="Google Shape;67;p42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70" name="Google Shape;70;p43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43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44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44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44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44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8" name="Google Shape;78;p44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9" name="Google Shape;79;p44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0" name="Google Shape;80;p44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1" name="Google Shape;81;p4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45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45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45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45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9" name="Google Shape;89;p45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0" name="Google Shape;90;p45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1" name="Google Shape;91;p45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4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6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46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46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46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46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46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1" name="Google Shape;101;p46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2" name="Google Shape;102;p46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3" name="Google Shape;103;p46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46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7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47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47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0" name="Google Shape;110;p47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1" name="Google Shape;111;p47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47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47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8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6" name="Google Shape;116;p48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7" name="Google Shape;117;p48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8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235"/>
              </a:srgbClr>
            </a:outerShdw>
          </a:effectLst>
        </p:spPr>
      </p:sp>
      <p:sp>
        <p:nvSpPr>
          <p:cNvPr id="119" name="Google Shape;119;p48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48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9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9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49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5" name="Google Shape;125;p49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6" name="Google Shape;126;p49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7" name="Google Shape;127;p49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8" name="Google Shape;128;p49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0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1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1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>
                <a:solidFill>
                  <a:srgbClr val="BFBFBF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400"/>
              <a:buChar char="•"/>
              <a:defRPr>
                <a:solidFill>
                  <a:srgbClr val="BFBFB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>
                <a:solidFill>
                  <a:srgbClr val="BFBFB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800"/>
              <a:buChar char="•"/>
              <a:defRPr>
                <a:solidFill>
                  <a:srgbClr val="BFBFB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800"/>
              <a:buChar char="•"/>
              <a:defRPr>
                <a:solidFill>
                  <a:srgbClr val="BFBFB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5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5" name="Google Shape;135;p5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6" name="Google Shape;136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42" name="Google Shape;142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75" name="Google Shape;275;p1"/>
          <p:cNvSpPr txBox="1"/>
          <p:nvPr/>
        </p:nvSpPr>
        <p:spPr>
          <a:xfrm>
            <a:off x="1104900" y="1321455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" name="Google Shape;277;p1"/>
          <p:cNvGrpSpPr/>
          <p:nvPr/>
        </p:nvGrpSpPr>
        <p:grpSpPr>
          <a:xfrm>
            <a:off x="1067655" y="3842795"/>
            <a:ext cx="3235325" cy="2163867"/>
            <a:chOff x="1067655" y="3842795"/>
            <a:chExt cx="3235325" cy="1826757"/>
          </a:xfrm>
        </p:grpSpPr>
        <p:sp>
          <p:nvSpPr>
            <p:cNvPr id="278" name="Google Shape;27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8235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Arreglos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Algoritmos con Matrices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"/>
            <p:cNvSpPr txBox="1"/>
            <p:nvPr/>
          </p:nvSpPr>
          <p:spPr>
            <a:xfrm>
              <a:off x="1199957" y="3857269"/>
              <a:ext cx="1003481" cy="101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0" i="0" lang="es-CL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U4</a:t>
              </a:r>
              <a:endPara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Objetivo</a:t>
            </a:r>
            <a:endParaRPr/>
          </a:p>
        </p:txBody>
      </p:sp>
      <p:sp>
        <p:nvSpPr>
          <p:cNvPr id="285" name="Google Shape;285;p2"/>
          <p:cNvSpPr txBox="1"/>
          <p:nvPr/>
        </p:nvSpPr>
        <p:spPr>
          <a:xfrm>
            <a:off x="1112989" y="615954"/>
            <a:ext cx="1496564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/>
          <p:nvPr/>
        </p:nvSpPr>
        <p:spPr>
          <a:xfrm>
            <a:off x="1112989" y="1895804"/>
            <a:ext cx="9982202" cy="335411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Comprender nuevas maneras de poblar una matriz.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Interiorizar funcionalidades adicionales para trabajar con matrices.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Comprender cómo adaptar los algoritmos vistos anteriormente a las matrices.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los conceptos para la resolución de problemas.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Cargando datos a una matriz</a:t>
            </a:r>
            <a:endParaRPr/>
          </a:p>
        </p:txBody>
      </p:sp>
      <p:sp>
        <p:nvSpPr>
          <p:cNvPr id="292" name="Google Shape;292;p3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1112989" y="1895805"/>
            <a:ext cx="9982202" cy="1533196"/>
          </a:xfrm>
          <a:prstGeom prst="roundRect">
            <a:avLst>
              <a:gd fmla="val 1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Revisemos cómo cargar los elementos de un archivo en una matriz.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Supongamos que queremos cargar los siguientes datos en una matriz: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3"/>
          <p:cNvPicPr preferRelativeResize="0"/>
          <p:nvPr/>
        </p:nvPicPr>
        <p:blipFill rotWithShape="1">
          <a:blip r:embed="rId3">
            <a:alphaModFix/>
          </a:blip>
          <a:srcRect b="1876" l="2645" r="368" t="2665"/>
          <a:stretch/>
        </p:blipFill>
        <p:spPr>
          <a:xfrm>
            <a:off x="3794589" y="3885519"/>
            <a:ext cx="4331100" cy="2658600"/>
          </a:xfrm>
          <a:prstGeom prst="roundRect">
            <a:avLst>
              <a:gd fmla="val 3031" name="adj"/>
            </a:avLst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Cargando datos</a:t>
            </a:r>
            <a:endParaRPr/>
          </a:p>
        </p:txBody>
      </p:sp>
      <p:sp>
        <p:nvSpPr>
          <p:cNvPr id="300" name="Google Shape;300;p4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1005840" y="1895805"/>
            <a:ext cx="6112291" cy="4346242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matriz.txt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fila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partes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col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fila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fila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7346731" y="1895804"/>
            <a:ext cx="3748460" cy="2621017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¿Lo podemos hacer de otra forma?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sucede si no conozco la cantidad de elementos?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Cargando datos 1</a:t>
            </a:r>
            <a:endParaRPr/>
          </a:p>
        </p:txBody>
      </p:sp>
      <p:sp>
        <p:nvSpPr>
          <p:cNvPr id="308" name="Google Shape;308;p5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1104900" y="1901821"/>
            <a:ext cx="3748460" cy="2621017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un archivo de texto que contiene una matriz tuviera este formato, ¿podrías leerlo y guardarlo?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7433027" y="1901820"/>
            <a:ext cx="2483483" cy="3054228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5,3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10,12,14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21,23,25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30,34,35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41,48,13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50,42,42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Holaaa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9685595" y="1567186"/>
            <a:ext cx="1621461" cy="1143000"/>
          </a:xfrm>
          <a:prstGeom prst="wedgeRectCallout">
            <a:avLst>
              <a:gd fmla="val -115521" name="adj1"/>
              <a:gd fmla="val 1381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 cada línea tiene 3 columnas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407572" y="1327170"/>
            <a:ext cx="1726325" cy="1350002"/>
          </a:xfrm>
          <a:prstGeom prst="wedgeRectCallout">
            <a:avLst>
              <a:gd fmla="val 95541" name="adj1"/>
              <a:gd fmla="val 2250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continuación vienen 5 líneas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Cargando datos 2</a:t>
            </a:r>
            <a:endParaRPr/>
          </a:p>
        </p:txBody>
      </p:sp>
      <p:sp>
        <p:nvSpPr>
          <p:cNvPr id="318" name="Google Shape;318;p6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104900" y="1901821"/>
            <a:ext cx="3748460" cy="2621017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un archivo de texto que contiene una matriz tuviera este formato, ¿podrías leerlo y guardarlo?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7433027" y="1901820"/>
            <a:ext cx="3256309" cy="3163956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3,10,12,14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2,21,23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4,30,34,35,99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1,48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2,42,42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Mundo!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407572" y="3609329"/>
            <a:ext cx="1621461" cy="1143000"/>
          </a:xfrm>
          <a:prstGeom prst="wedgeRectCallout">
            <a:avLst>
              <a:gd fmla="val 98774" name="adj1"/>
              <a:gd fmla="val -12859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Esta línea tiene 3 columnas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407572" y="1327170"/>
            <a:ext cx="1726325" cy="1350002"/>
          </a:xfrm>
          <a:prstGeom prst="wedgeRectCallout">
            <a:avLst>
              <a:gd fmla="val 95541" name="adj1"/>
              <a:gd fmla="val 2250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continuación vienen 5 líneas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Cargando datos 3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104900" y="1901821"/>
            <a:ext cx="3748460" cy="2621017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un archivo de texto que contiene una matriz tuviera este formato, ¿podrías leerlo y guardarlo?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7433027" y="1901820"/>
            <a:ext cx="3256309" cy="3163956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10,12,14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21,23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30,34,35,99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42,42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Mundo!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407572" y="3609329"/>
            <a:ext cx="1621461" cy="1143000"/>
          </a:xfrm>
          <a:prstGeom prst="wedgeRectCallout">
            <a:avLst>
              <a:gd fmla="val 98774" name="adj1"/>
              <a:gd fmla="val -12859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se indica cuántas columnas tiene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407572" y="1327170"/>
            <a:ext cx="1726325" cy="1350002"/>
          </a:xfrm>
          <a:prstGeom prst="wedgeRectCallout">
            <a:avLst>
              <a:gd fmla="val 95541" name="adj1"/>
              <a:gd fmla="val 22500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continuación vienen 5 líneas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Encontrando elementos</a:t>
            </a:r>
            <a:endParaRPr/>
          </a:p>
        </p:txBody>
      </p:sp>
      <p:sp>
        <p:nvSpPr>
          <p:cNvPr id="339" name="Google Shape;339;p8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112989" y="1895804"/>
            <a:ext cx="9982202" cy="3945320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encontramos la posición de un elemento en una lista?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Podemos hacer algo similar en las matrices pero requerimos: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Ciclo for en las filas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Ciclo for en las 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Variables de posición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Recorrer la matriz!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Recorriendo una matriz</a:t>
            </a:r>
            <a:endParaRPr/>
          </a:p>
        </p:txBody>
      </p:sp>
      <p:sp>
        <p:nvSpPr>
          <p:cNvPr id="346" name="Google Shape;346;p9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104900" y="1600200"/>
            <a:ext cx="10350062" cy="2890896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esto, necesitamos saber las dimensiones de la matriz. Tenemos dos alternativas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Alternativa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Usar un par de variables extras para almacenar sus dimensiones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 pasar esas variables cada vez que necesitemos recorrerla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2754470" y="4285045"/>
            <a:ext cx="6824949" cy="2293883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sumar_matriz_v1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8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matriz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nfilas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ncolumnas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18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f </a:t>
            </a:r>
            <a:r>
              <a:rPr b="0" i="0" lang="es-CL" sz="18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nfilas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s-CL" sz="18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 </a:t>
            </a:r>
            <a:r>
              <a:rPr b="0" i="0" lang="es-CL" sz="18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ncolumnas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s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18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</a:t>
            </a:r>
            <a:b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sumar_matriz_v1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Recorriendo una matriz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104900" y="1600200"/>
            <a:ext cx="10350062" cy="2183524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forma anterior funciona, pero a veces no es tan cómodo andar pasando dos variables extras en todos lados.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Alternativa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Preguntarle a la misma matriz cuántas filas y cuántas columnas tiene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1344" y="3021450"/>
            <a:ext cx="7505649" cy="3473122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columnas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columnas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Esta matriz tiene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18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b="0" i="0" lang="es-CL" sz="1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18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columnas</a:t>
            </a:r>
            <a:r>
              <a:rPr b="0" i="0" lang="es-CL" sz="1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18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567448" y="3602421"/>
            <a:ext cx="4263208" cy="254572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5 filas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5 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2 filas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3 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21 filas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Esta matriz tiene 17 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Ojo con shape()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1112989" y="1895803"/>
            <a:ext cx="9982202" cy="295997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.shape(n) retornará el tamaño “REAL” de la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estamos resolviendo un problema, y hemos declarado una matriz de manera sobredimensionada (y no la estamos usando completa) .shape(n) igual seguirá indicando el tamaño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caso, vamos a necesitar un par de variables para indicar hasta dónde estamos ocupando la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Ojo con shape()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158067" y="2011548"/>
            <a:ext cx="4937677" cy="2359284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4,6,7,5,6,7,8,0,0,0,0,0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3,4,5,1,3,5,9,0,0,0,0,0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7,6,5,6,5,3,1,0,0,0,0,0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8,9,8,7,8,9,7,0,0,0,0,0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0,0,0,0,0,0,0,0,0,0,0,0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946136" y="929886"/>
            <a:ext cx="1967537" cy="1350002"/>
          </a:xfrm>
          <a:prstGeom prst="wedgeRectCallout">
            <a:avLst>
              <a:gd fmla="val -100581" name="adj1"/>
              <a:gd fmla="val 56367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mtx.shape[0]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== 5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833360" y="4562856"/>
            <a:ext cx="1967537" cy="1350002"/>
          </a:xfrm>
          <a:prstGeom prst="wedgeRectCallout">
            <a:avLst>
              <a:gd fmla="val -95469" name="adj1"/>
              <a:gd fmla="val -67585" name="adj2"/>
            </a:avLst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mtx.shape[1]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== 12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12"/>
          <p:cNvSpPr/>
          <p:nvPr/>
        </p:nvSpPr>
        <p:spPr>
          <a:xfrm rot="5400000">
            <a:off x="3651568" y="3633280"/>
            <a:ext cx="365760" cy="222491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3458718" y="5120639"/>
            <a:ext cx="14881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 rot="10800000">
            <a:off x="1719155" y="2279888"/>
            <a:ext cx="365760" cy="124969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805939" y="2581570"/>
            <a:ext cx="10034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Encontrando elementos</a:t>
            </a:r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825063" y="1895805"/>
            <a:ext cx="6750268" cy="392167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encontrar_elemento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elemento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filas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cols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j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cols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elemento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[-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encontrar_elemento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350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encontrar_elemento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7717221" y="1895804"/>
            <a:ext cx="3649716" cy="2621017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devuelve shape de una matriz?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¿Por qué el -1,-1?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¿Podemos hacerlo de otra forma?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7717221" y="4635062"/>
            <a:ext cx="1837997" cy="1182414"/>
          </a:xfrm>
          <a:prstGeom prst="roundRect">
            <a:avLst>
              <a:gd fmla="val 14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[-1,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[3,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Máximo y mínimo en una matriz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112989" y="1895804"/>
            <a:ext cx="9982202" cy="2621017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encontrar el máximo o el valor mínimo en una matriz, tendremos que recorrerla elemento por elemento para luego descubrir el máximo o el mínimo.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sucede si hay más de uno?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podemos resolver el algoritmo?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El máximo en una matriz</a:t>
            </a:r>
            <a:endParaRPr/>
          </a:p>
        </p:txBody>
      </p:sp>
      <p:sp>
        <p:nvSpPr>
          <p:cNvPr id="402" name="Google Shape;402;p15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12989" y="1895805"/>
            <a:ext cx="6462342" cy="392167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max_matriz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filas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cols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maximo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-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j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cols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maximo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maximo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maximo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max_matriz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7717221" y="1895804"/>
            <a:ext cx="3649716" cy="2944210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descubro la posición del máximo?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hay más de una?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Los máximos en una matriz</a:t>
            </a:r>
            <a:endParaRPr/>
          </a:p>
        </p:txBody>
      </p:sp>
      <p:sp>
        <p:nvSpPr>
          <p:cNvPr id="410" name="Google Shape;410;p16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356616" y="1499616"/>
            <a:ext cx="7218715" cy="535838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maximos_matriz(matriz, posiciones):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filas = matriz.shape[</a:t>
            </a:r>
            <a:r>
              <a:rPr b="0" i="0" lang="es-CL" sz="20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cols = matriz.shape[</a:t>
            </a:r>
            <a:r>
              <a:rPr b="0" i="0" lang="es-CL" sz="20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maximo = -</a:t>
            </a:r>
            <a:r>
              <a:rPr b="0" i="0" lang="es-CL" sz="20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b="0" i="0" lang="es-CL" sz="20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range(filas):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j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range(cols):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maximo &lt; matriz[i][j]: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posiciones.clear() </a:t>
            </a:r>
            <a:r>
              <a:rPr b="0" i="0" lang="es-CL" sz="20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limpiamos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maximo = matriz[i][j]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posiciones.append([i,j])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maximo == matriz[i][j]: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posiciones.append([i,j])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s-CL" sz="20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maximo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lista = 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print(maximos_matriz(mtx, lista))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print(lista)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7717221" y="1895804"/>
            <a:ext cx="3649716" cy="2944210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 solución posible…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Mínimo en una matriz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112989" y="1895805"/>
            <a:ext cx="6462342" cy="392167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min_matriz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filas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cols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minimo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j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cols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minimo &gt;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minimo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minimo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min_matriz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mtx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7717220" y="429768"/>
            <a:ext cx="3996243" cy="6035040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acuerdo a cómo usamos las matrices, este código tiene un bug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tal vez no, depende del punto de 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 tiene que ver con que la matriz vacía está llena de ceros, y si no tenemos cuidados, podemos considerar esos ceros como mínimo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Mínimo en una matriz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2158067" y="2011548"/>
            <a:ext cx="4937677" cy="2359284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4,6,7,5,6,7,8,0,0,0,0,0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3,4,5,1,3,5,9,0,0,0,0,0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7,6,5,6,5,3,1,0,0,0,0,0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8,9,8,7,8,9,7,0,0,0,0,0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0,0,0,0,0,0,0,0,0,0,0,0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18"/>
          <p:cNvSpPr/>
          <p:nvPr/>
        </p:nvSpPr>
        <p:spPr>
          <a:xfrm rot="5400000">
            <a:off x="3651568" y="3633280"/>
            <a:ext cx="365760" cy="222491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18"/>
          <p:cNvSpPr txBox="1"/>
          <p:nvPr/>
        </p:nvSpPr>
        <p:spPr>
          <a:xfrm>
            <a:off x="3071368" y="5025389"/>
            <a:ext cx="17419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columnas</a:t>
            </a:r>
            <a:r>
              <a:rPr b="0" i="0" lang="es-CL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 rot="10800000">
            <a:off x="1719155" y="2279888"/>
            <a:ext cx="365760" cy="124969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368301" y="2720090"/>
            <a:ext cx="164431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filas</a:t>
            </a:r>
            <a:r>
              <a:rPr b="0" i="0" lang="es-CL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7689788" y="1760289"/>
            <a:ext cx="3996243" cy="2935223"/>
          </a:xfrm>
          <a:prstGeom prst="roundRect">
            <a:avLst>
              <a:gd fmla="val 78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caso, cero </a:t>
            </a: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es el mínimo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Ordenando matrices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112989" y="1895804"/>
            <a:ext cx="4983011" cy="3945320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sucede que hay que ordenar una lista, y esa lista tiene asociada una matriz, se debe proceder con cuidado.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mantener la estructura funcionando, todos los elementos de las filas de la matriz deben intercambiarse.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19"/>
          <p:cNvGrpSpPr/>
          <p:nvPr/>
        </p:nvGrpSpPr>
        <p:grpSpPr>
          <a:xfrm>
            <a:off x="6483879" y="2077108"/>
            <a:ext cx="4948748" cy="2239242"/>
            <a:chOff x="5271156" y="3065855"/>
            <a:chExt cx="4948748" cy="2239242"/>
          </a:xfrm>
        </p:grpSpPr>
        <p:grpSp>
          <p:nvGrpSpPr>
            <p:cNvPr id="443" name="Google Shape;443;p19"/>
            <p:cNvGrpSpPr/>
            <p:nvPr/>
          </p:nvGrpSpPr>
          <p:grpSpPr>
            <a:xfrm>
              <a:off x="6408638" y="3114713"/>
              <a:ext cx="3811266" cy="2190384"/>
              <a:chOff x="5495436" y="2649741"/>
              <a:chExt cx="5858364" cy="3235982"/>
            </a:xfrm>
          </p:grpSpPr>
          <p:grpSp>
            <p:nvGrpSpPr>
              <p:cNvPr id="444" name="Google Shape;444;p19"/>
              <p:cNvGrpSpPr/>
              <p:nvPr/>
            </p:nvGrpSpPr>
            <p:grpSpPr>
              <a:xfrm>
                <a:off x="5495436" y="2649741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45" name="Google Shape;445;p19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46" name="Google Shape;446;p19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47" name="Google Shape;447;p19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51" name="Google Shape;451;p19"/>
              <p:cNvGrpSpPr/>
              <p:nvPr/>
            </p:nvGrpSpPr>
            <p:grpSpPr>
              <a:xfrm>
                <a:off x="5495436" y="3297716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52" name="Google Shape;452;p19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58" name="Google Shape;458;p19"/>
              <p:cNvGrpSpPr/>
              <p:nvPr/>
            </p:nvGrpSpPr>
            <p:grpSpPr>
              <a:xfrm>
                <a:off x="5495436" y="39388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59" name="Google Shape;459;p19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0" name="Google Shape;460;p19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1" name="Google Shape;461;p19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2" name="Google Shape;462;p19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3" name="Google Shape;463;p19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4" name="Google Shape;464;p19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65" name="Google Shape;465;p19"/>
              <p:cNvGrpSpPr/>
              <p:nvPr/>
            </p:nvGrpSpPr>
            <p:grpSpPr>
              <a:xfrm>
                <a:off x="5495436" y="4586870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66" name="Google Shape;466;p19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7" name="Google Shape;467;p19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8" name="Google Shape;468;p19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9" name="Google Shape;469;p19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0" name="Google Shape;470;p19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1" name="Google Shape;471;p19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72" name="Google Shape;472;p19"/>
              <p:cNvGrpSpPr/>
              <p:nvPr/>
            </p:nvGrpSpPr>
            <p:grpSpPr>
              <a:xfrm>
                <a:off x="5495436" y="52347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73" name="Google Shape;473;p19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4" name="Google Shape;474;p19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5" name="Google Shape;475;p19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6" name="Google Shape;476;p19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7" name="Google Shape;477;p19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78" name="Google Shape;478;p19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grpSp>
          <p:nvGrpSpPr>
            <p:cNvPr id="479" name="Google Shape;479;p19"/>
            <p:cNvGrpSpPr/>
            <p:nvPr/>
          </p:nvGrpSpPr>
          <p:grpSpPr>
            <a:xfrm>
              <a:off x="5271156" y="3065855"/>
              <a:ext cx="1005165" cy="2239242"/>
              <a:chOff x="3746992" y="2577560"/>
              <a:chExt cx="1545057" cy="3308163"/>
            </a:xfrm>
          </p:grpSpPr>
          <p:sp>
            <p:nvSpPr>
              <p:cNvPr id="480" name="Google Shape;480;p19"/>
              <p:cNvSpPr txBox="1"/>
              <p:nvPr/>
            </p:nvSpPr>
            <p:spPr>
              <a:xfrm rot="-5400000">
                <a:off x="2783232" y="3541320"/>
                <a:ext cx="2495227" cy="567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-CL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ciudades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1" name="Google Shape;481;p19"/>
              <p:cNvGrpSpPr/>
              <p:nvPr/>
            </p:nvGrpSpPr>
            <p:grpSpPr>
              <a:xfrm>
                <a:off x="4315655" y="2649741"/>
                <a:ext cx="976394" cy="3235982"/>
                <a:chOff x="4315655" y="2649741"/>
                <a:chExt cx="976394" cy="3235982"/>
              </a:xfrm>
            </p:grpSpPr>
            <p:sp>
              <p:nvSpPr>
                <p:cNvPr id="482" name="Google Shape;482;p19"/>
                <p:cNvSpPr/>
                <p:nvPr/>
              </p:nvSpPr>
              <p:spPr>
                <a:xfrm>
                  <a:off x="4315655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3" name="Google Shape;483;p19"/>
                <p:cNvSpPr/>
                <p:nvPr/>
              </p:nvSpPr>
              <p:spPr>
                <a:xfrm>
                  <a:off x="4315655" y="3297716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4" name="Google Shape;484;p19"/>
                <p:cNvSpPr/>
                <p:nvPr/>
              </p:nvSpPr>
              <p:spPr>
                <a:xfrm>
                  <a:off x="4315655" y="39388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5" name="Google Shape;485;p19"/>
                <p:cNvSpPr/>
                <p:nvPr/>
              </p:nvSpPr>
              <p:spPr>
                <a:xfrm>
                  <a:off x="4315655" y="4586870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6" name="Google Shape;486;p19"/>
                <p:cNvSpPr/>
                <p:nvPr/>
              </p:nvSpPr>
              <p:spPr>
                <a:xfrm>
                  <a:off x="4315655" y="52347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Ordenando</a:t>
            </a:r>
            <a:endParaRPr/>
          </a:p>
        </p:txBody>
      </p:sp>
      <p:sp>
        <p:nvSpPr>
          <p:cNvPr id="493" name="Google Shape;493;p20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20"/>
          <p:cNvGrpSpPr/>
          <p:nvPr/>
        </p:nvGrpSpPr>
        <p:grpSpPr>
          <a:xfrm>
            <a:off x="3014788" y="2235528"/>
            <a:ext cx="6667866" cy="3424292"/>
            <a:chOff x="5320123" y="3065855"/>
            <a:chExt cx="4899781" cy="2239242"/>
          </a:xfrm>
        </p:grpSpPr>
        <p:grpSp>
          <p:nvGrpSpPr>
            <p:cNvPr id="495" name="Google Shape;495;p20"/>
            <p:cNvGrpSpPr/>
            <p:nvPr/>
          </p:nvGrpSpPr>
          <p:grpSpPr>
            <a:xfrm>
              <a:off x="6408638" y="3114713"/>
              <a:ext cx="3811266" cy="2190384"/>
              <a:chOff x="5495436" y="2649741"/>
              <a:chExt cx="5858364" cy="3235982"/>
            </a:xfrm>
          </p:grpSpPr>
          <p:grpSp>
            <p:nvGrpSpPr>
              <p:cNvPr id="496" name="Google Shape;496;p20"/>
              <p:cNvGrpSpPr/>
              <p:nvPr/>
            </p:nvGrpSpPr>
            <p:grpSpPr>
              <a:xfrm>
                <a:off x="5495436" y="2649741"/>
                <a:ext cx="5858364" cy="650928"/>
                <a:chOff x="5495436" y="2649741"/>
                <a:chExt cx="5858364" cy="650928"/>
              </a:xfrm>
            </p:grpSpPr>
            <p:sp>
              <p:nvSpPr>
                <p:cNvPr id="497" name="Google Shape;497;p20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98" name="Google Shape;498;p20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99" name="Google Shape;499;p20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0" name="Google Shape;500;p20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1" name="Google Shape;501;p20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2" name="Google Shape;502;p20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03" name="Google Shape;503;p20"/>
              <p:cNvGrpSpPr/>
              <p:nvPr/>
            </p:nvGrpSpPr>
            <p:grpSpPr>
              <a:xfrm>
                <a:off x="5495436" y="3297716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04" name="Google Shape;504;p20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5" name="Google Shape;505;p20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6" name="Google Shape;506;p20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7" name="Google Shape;507;p20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8" name="Google Shape;508;p20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9" name="Google Shape;509;p20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10" name="Google Shape;510;p20"/>
              <p:cNvGrpSpPr/>
              <p:nvPr/>
            </p:nvGrpSpPr>
            <p:grpSpPr>
              <a:xfrm>
                <a:off x="5495436" y="39388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11" name="Google Shape;511;p20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2" name="Google Shape;512;p20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3" name="Google Shape;513;p20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4" name="Google Shape;514;p20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5" name="Google Shape;515;p20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6" name="Google Shape;516;p20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17" name="Google Shape;517;p20"/>
              <p:cNvGrpSpPr/>
              <p:nvPr/>
            </p:nvGrpSpPr>
            <p:grpSpPr>
              <a:xfrm>
                <a:off x="5495436" y="4586870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18" name="Google Shape;518;p20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9" name="Google Shape;519;p20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0" name="Google Shape;520;p20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1" name="Google Shape;521;p20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2" name="Google Shape;522;p20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3" name="Google Shape;523;p20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24" name="Google Shape;524;p20"/>
              <p:cNvGrpSpPr/>
              <p:nvPr/>
            </p:nvGrpSpPr>
            <p:grpSpPr>
              <a:xfrm>
                <a:off x="5495436" y="52347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25" name="Google Shape;525;p20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6" name="Google Shape;526;p20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7" name="Google Shape;527;p20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8" name="Google Shape;528;p20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9" name="Google Shape;529;p20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0" name="Google Shape;530;p20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grpSp>
          <p:nvGrpSpPr>
            <p:cNvPr id="531" name="Google Shape;531;p20"/>
            <p:cNvGrpSpPr/>
            <p:nvPr/>
          </p:nvGrpSpPr>
          <p:grpSpPr>
            <a:xfrm>
              <a:off x="5320123" y="3065855"/>
              <a:ext cx="956198" cy="2239241"/>
              <a:chOff x="3822260" y="2577561"/>
              <a:chExt cx="1469789" cy="3308162"/>
            </a:xfrm>
          </p:grpSpPr>
          <p:sp>
            <p:nvSpPr>
              <p:cNvPr id="532" name="Google Shape;532;p20"/>
              <p:cNvSpPr txBox="1"/>
              <p:nvPr/>
            </p:nvSpPr>
            <p:spPr>
              <a:xfrm rot="-5400000">
                <a:off x="2783232" y="3616589"/>
                <a:ext cx="2495227" cy="4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-CL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ciudades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33" name="Google Shape;533;p20"/>
              <p:cNvGrpSpPr/>
              <p:nvPr/>
            </p:nvGrpSpPr>
            <p:grpSpPr>
              <a:xfrm>
                <a:off x="4315655" y="2649741"/>
                <a:ext cx="976394" cy="3235982"/>
                <a:chOff x="4315655" y="2649741"/>
                <a:chExt cx="976394" cy="3235982"/>
              </a:xfrm>
            </p:grpSpPr>
            <p:sp>
              <p:nvSpPr>
                <p:cNvPr id="534" name="Google Shape;534;p20"/>
                <p:cNvSpPr/>
                <p:nvPr/>
              </p:nvSpPr>
              <p:spPr>
                <a:xfrm>
                  <a:off x="4315655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5" name="Google Shape;535;p20"/>
                <p:cNvSpPr/>
                <p:nvPr/>
              </p:nvSpPr>
              <p:spPr>
                <a:xfrm>
                  <a:off x="4315655" y="3297716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6" name="Google Shape;536;p20"/>
                <p:cNvSpPr/>
                <p:nvPr/>
              </p:nvSpPr>
              <p:spPr>
                <a:xfrm>
                  <a:off x="4315655" y="39388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7" name="Google Shape;537;p20"/>
                <p:cNvSpPr/>
                <p:nvPr/>
              </p:nvSpPr>
              <p:spPr>
                <a:xfrm>
                  <a:off x="4315655" y="4586870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8" name="Google Shape;538;p20"/>
                <p:cNvSpPr/>
                <p:nvPr/>
              </p:nvSpPr>
              <p:spPr>
                <a:xfrm>
                  <a:off x="4315655" y="52347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  <p:sp>
        <p:nvSpPr>
          <p:cNvPr id="539" name="Google Shape;539;p20"/>
          <p:cNvSpPr/>
          <p:nvPr/>
        </p:nvSpPr>
        <p:spPr>
          <a:xfrm>
            <a:off x="1959182" y="3000473"/>
            <a:ext cx="1043200" cy="6542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969839" y="4337642"/>
            <a:ext cx="1043200" cy="6542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4171515" y="2810918"/>
            <a:ext cx="5927835" cy="100453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4171515" y="4162508"/>
            <a:ext cx="5927835" cy="100453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8106088" y="3303289"/>
            <a:ext cx="974736" cy="150486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20"/>
          <p:cNvSpPr/>
          <p:nvPr/>
        </p:nvSpPr>
        <p:spPr>
          <a:xfrm rot="10800000">
            <a:off x="9343420" y="3136885"/>
            <a:ext cx="974736" cy="150486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Ordenando</a:t>
            </a:r>
            <a:endParaRPr/>
          </a:p>
        </p:txBody>
      </p:sp>
      <p:sp>
        <p:nvSpPr>
          <p:cNvPr id="550" name="Google Shape;550;p21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293182" y="1895804"/>
            <a:ext cx="5640258" cy="392167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216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numpy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np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imprimir(mensaje, lista, matriz):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(mensaje)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(lista)):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linea =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(lista[i]) + </a:t>
            </a: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":"</a:t>
            </a:r>
            <a:b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len(matriz[i]) retorna el tamaño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la fila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(matriz[i])):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linea += </a:t>
            </a: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" "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(matriz[i][j])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(linea)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intercambiar(lista, indice1, indice2):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aux = lista[indice1]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lista[indice1] = lista[indice2]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lista[indice2] = aux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6258560" y="721360"/>
            <a:ext cx="5640258" cy="5913120"/>
          </a:xfrm>
          <a:prstGeom prst="roundRect">
            <a:avLst>
              <a:gd fmla="val 49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144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marcas = [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En vez de usar zeros (que retorna una matriz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llena de ceros) usaremos random, que retorna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una matriz llena de números aleatorios. De 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esta forma será más evidente si el algoritmo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funciona o no.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#matriz = np.zeros([4, 6])</a:t>
            </a:r>
            <a:br>
              <a:rPr b="0" i="1" lang="es-CL" sz="16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matriz = np.random.rand(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imprimir(</a:t>
            </a: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"inicial"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marcas, matriz)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(marcas) -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(a + 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(marcas)):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marcas[a] &lt; marcas[b]: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intercambiar(marcas, a, b)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b="1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s-CL" sz="16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aux = matriz[a][c]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matriz[a][c] = matriz[b][c]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matriz[b][c] = aux</a:t>
            </a: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imprimir(</a:t>
            </a:r>
            <a:r>
              <a:rPr b="1" i="0" lang="es-CL" sz="16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"final"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marcas, matriz)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Resultado</a:t>
            </a:r>
            <a:endParaRPr/>
          </a:p>
        </p:txBody>
      </p:sp>
      <p:sp>
        <p:nvSpPr>
          <p:cNvPr id="559" name="Google Shape;559;p22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589280" y="2287138"/>
            <a:ext cx="11013440" cy="3113077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50: 0.0617611306444 0.927595244301 0.640445879977 0.15076906007 0.3910834342 0.59238281094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10: 0.671093703774 0.90482674226 0.0400745110967 0.209469709008 0.693388411492 0.0011082130936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60: 0.192370193521 0.378939754568 0.0123926628423 0.512387147461 0.926969251483 0.370015287436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20: 0.189682597814 0.145930556196 0.98289549959 0.668009872742 0.86581451392 0.233682915391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60: 0.192370193521 0.378939754568 0.0123926628423 0.512387147461 0.926969251483 0.370015287436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50: 0.0617611306444 0.927595244301 0.640445879977 0.15076906007 0.3910834342 0.59238281094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20: 0.189682597814 0.145930556196 0.98289549959 0.668009872742 0.86581451392 0.233682915391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10: 0.671093703774 0.90482674226 0.0400745110967 0.209469709008 0.693388411492 0.0011082130936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Eliminando columnas o filas</a:t>
            </a:r>
            <a:endParaRPr/>
          </a:p>
        </p:txBody>
      </p:sp>
      <p:sp>
        <p:nvSpPr>
          <p:cNvPr id="567" name="Google Shape;567;p23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1112989" y="1658856"/>
            <a:ext cx="9982202" cy="1533196"/>
          </a:xfrm>
          <a:prstGeom prst="roundRect">
            <a:avLst>
              <a:gd fmla="val 150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por alguna razón necesitamos “eliminar” una fila o columna, tenemos que mover TODOS los elementos que están “después” que el elemento eliminado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23"/>
          <p:cNvGrpSpPr/>
          <p:nvPr/>
        </p:nvGrpSpPr>
        <p:grpSpPr>
          <a:xfrm>
            <a:off x="2599444" y="3205741"/>
            <a:ext cx="6667866" cy="3424292"/>
            <a:chOff x="5320123" y="3065855"/>
            <a:chExt cx="4899781" cy="2239242"/>
          </a:xfrm>
        </p:grpSpPr>
        <p:grpSp>
          <p:nvGrpSpPr>
            <p:cNvPr id="570" name="Google Shape;570;p23"/>
            <p:cNvGrpSpPr/>
            <p:nvPr/>
          </p:nvGrpSpPr>
          <p:grpSpPr>
            <a:xfrm>
              <a:off x="6408638" y="3114713"/>
              <a:ext cx="3811266" cy="2190384"/>
              <a:chOff x="5495436" y="2649741"/>
              <a:chExt cx="5858364" cy="3235982"/>
            </a:xfrm>
          </p:grpSpPr>
          <p:grpSp>
            <p:nvGrpSpPr>
              <p:cNvPr id="571" name="Google Shape;571;p23"/>
              <p:cNvGrpSpPr/>
              <p:nvPr/>
            </p:nvGrpSpPr>
            <p:grpSpPr>
              <a:xfrm>
                <a:off x="5495436" y="2649741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72" name="Google Shape;572;p23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73" name="Google Shape;573;p23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74" name="Google Shape;574;p23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75" name="Google Shape;575;p23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76" name="Google Shape;576;p23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77" name="Google Shape;577;p23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78" name="Google Shape;578;p23"/>
              <p:cNvGrpSpPr/>
              <p:nvPr/>
            </p:nvGrpSpPr>
            <p:grpSpPr>
              <a:xfrm>
                <a:off x="5495436" y="3297716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79" name="Google Shape;579;p23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0" name="Google Shape;580;p23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1" name="Google Shape;581;p23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2" name="Google Shape;582;p23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3" name="Google Shape;583;p23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4" name="Google Shape;584;p23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85" name="Google Shape;585;p23"/>
              <p:cNvGrpSpPr/>
              <p:nvPr/>
            </p:nvGrpSpPr>
            <p:grpSpPr>
              <a:xfrm>
                <a:off x="5495436" y="39388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86" name="Google Shape;586;p23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7" name="Google Shape;587;p23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8" name="Google Shape;588;p23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89" name="Google Shape;589;p23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0" name="Google Shape;590;p23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1" name="Google Shape;591;p23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92" name="Google Shape;592;p23"/>
              <p:cNvGrpSpPr/>
              <p:nvPr/>
            </p:nvGrpSpPr>
            <p:grpSpPr>
              <a:xfrm>
                <a:off x="5495436" y="4586870"/>
                <a:ext cx="5858364" cy="650928"/>
                <a:chOff x="5495436" y="2649741"/>
                <a:chExt cx="5858364" cy="650928"/>
              </a:xfrm>
            </p:grpSpPr>
            <p:sp>
              <p:nvSpPr>
                <p:cNvPr id="593" name="Google Shape;593;p23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4" name="Google Shape;594;p23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5" name="Google Shape;595;p23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6" name="Google Shape;596;p23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7" name="Google Shape;597;p23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98" name="Google Shape;598;p23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99" name="Google Shape;599;p23"/>
              <p:cNvGrpSpPr/>
              <p:nvPr/>
            </p:nvGrpSpPr>
            <p:grpSpPr>
              <a:xfrm>
                <a:off x="5495436" y="52347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00" name="Google Shape;600;p23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01" name="Google Shape;601;p23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02" name="Google Shape;602;p23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03" name="Google Shape;603;p23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04" name="Google Shape;604;p23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05" name="Google Shape;605;p23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grpSp>
          <p:nvGrpSpPr>
            <p:cNvPr id="606" name="Google Shape;606;p23"/>
            <p:cNvGrpSpPr/>
            <p:nvPr/>
          </p:nvGrpSpPr>
          <p:grpSpPr>
            <a:xfrm>
              <a:off x="5320123" y="3065855"/>
              <a:ext cx="956198" cy="2239241"/>
              <a:chOff x="3822260" y="2577561"/>
              <a:chExt cx="1469789" cy="3308162"/>
            </a:xfrm>
          </p:grpSpPr>
          <p:sp>
            <p:nvSpPr>
              <p:cNvPr id="607" name="Google Shape;607;p23"/>
              <p:cNvSpPr txBox="1"/>
              <p:nvPr/>
            </p:nvSpPr>
            <p:spPr>
              <a:xfrm rot="-5400000">
                <a:off x="2783232" y="3616589"/>
                <a:ext cx="2495227" cy="4171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-CL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ciudades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8" name="Google Shape;608;p23"/>
              <p:cNvGrpSpPr/>
              <p:nvPr/>
            </p:nvGrpSpPr>
            <p:grpSpPr>
              <a:xfrm>
                <a:off x="4315655" y="2649741"/>
                <a:ext cx="976394" cy="3235982"/>
                <a:chOff x="4315655" y="2649741"/>
                <a:chExt cx="976394" cy="3235982"/>
              </a:xfrm>
            </p:grpSpPr>
            <p:sp>
              <p:nvSpPr>
                <p:cNvPr id="609" name="Google Shape;609;p23"/>
                <p:cNvSpPr/>
                <p:nvPr/>
              </p:nvSpPr>
              <p:spPr>
                <a:xfrm>
                  <a:off x="4315655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10" name="Google Shape;610;p23"/>
                <p:cNvSpPr/>
                <p:nvPr/>
              </p:nvSpPr>
              <p:spPr>
                <a:xfrm>
                  <a:off x="4315655" y="3297716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11" name="Google Shape;611;p23"/>
                <p:cNvSpPr/>
                <p:nvPr/>
              </p:nvSpPr>
              <p:spPr>
                <a:xfrm>
                  <a:off x="4315655" y="39388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12" name="Google Shape;612;p23"/>
                <p:cNvSpPr/>
                <p:nvPr/>
              </p:nvSpPr>
              <p:spPr>
                <a:xfrm>
                  <a:off x="4315655" y="4586870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13" name="Google Shape;613;p23"/>
                <p:cNvSpPr/>
                <p:nvPr/>
              </p:nvSpPr>
              <p:spPr>
                <a:xfrm>
                  <a:off x="4315655" y="52347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rgbClr val="005FF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  <p:sp>
        <p:nvSpPr>
          <p:cNvPr id="614" name="Google Shape;614;p23"/>
          <p:cNvSpPr/>
          <p:nvPr/>
        </p:nvSpPr>
        <p:spPr>
          <a:xfrm>
            <a:off x="1496542" y="3970686"/>
            <a:ext cx="1043200" cy="6542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5F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2876497" y="3781131"/>
            <a:ext cx="6807510" cy="100453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5F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23"/>
          <p:cNvSpPr/>
          <p:nvPr/>
        </p:nvSpPr>
        <p:spPr>
          <a:xfrm rot="10800000">
            <a:off x="9422703" y="3951176"/>
            <a:ext cx="974736" cy="127889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5F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7" name="Google Shape;617;p23"/>
          <p:cNvSpPr/>
          <p:nvPr/>
        </p:nvSpPr>
        <p:spPr>
          <a:xfrm rot="10800000">
            <a:off x="9422703" y="4731513"/>
            <a:ext cx="974736" cy="127889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5F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8" name="Google Shape;618;p23"/>
          <p:cNvSpPr/>
          <p:nvPr/>
        </p:nvSpPr>
        <p:spPr>
          <a:xfrm rot="10800000">
            <a:off x="9476353" y="5249578"/>
            <a:ext cx="974736" cy="127889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5F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Eliminando columnas o filas</a:t>
            </a:r>
            <a:endParaRPr/>
          </a:p>
        </p:txBody>
      </p:sp>
      <p:sp>
        <p:nvSpPr>
          <p:cNvPr id="625" name="Google Shape;625;p24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1112989" y="1895803"/>
            <a:ext cx="4983011" cy="404462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Fíjate que en el caso anterior, había una lista paralela a la matriz.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caso, para mantener la sincronía entre ambas, TAMBIÉN se debe eliminar en la lista.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Algo equivalente pasará si queremos eliminar columnas.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p24"/>
          <p:cNvGrpSpPr/>
          <p:nvPr/>
        </p:nvGrpSpPr>
        <p:grpSpPr>
          <a:xfrm>
            <a:off x="6483879" y="2077108"/>
            <a:ext cx="4948748" cy="2239242"/>
            <a:chOff x="5271156" y="3065855"/>
            <a:chExt cx="4948748" cy="2239242"/>
          </a:xfrm>
        </p:grpSpPr>
        <p:grpSp>
          <p:nvGrpSpPr>
            <p:cNvPr id="628" name="Google Shape;628;p24"/>
            <p:cNvGrpSpPr/>
            <p:nvPr/>
          </p:nvGrpSpPr>
          <p:grpSpPr>
            <a:xfrm>
              <a:off x="6408638" y="3114713"/>
              <a:ext cx="3811266" cy="2190384"/>
              <a:chOff x="5495436" y="2649741"/>
              <a:chExt cx="5858364" cy="3235982"/>
            </a:xfrm>
          </p:grpSpPr>
          <p:grpSp>
            <p:nvGrpSpPr>
              <p:cNvPr id="629" name="Google Shape;629;p24"/>
              <p:cNvGrpSpPr/>
              <p:nvPr/>
            </p:nvGrpSpPr>
            <p:grpSpPr>
              <a:xfrm>
                <a:off x="5495436" y="2649741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30" name="Google Shape;630;p24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1" name="Google Shape;631;p24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2" name="Google Shape;632;p24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3" name="Google Shape;633;p24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4" name="Google Shape;634;p24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5" name="Google Shape;635;p24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636" name="Google Shape;636;p24"/>
              <p:cNvGrpSpPr/>
              <p:nvPr/>
            </p:nvGrpSpPr>
            <p:grpSpPr>
              <a:xfrm>
                <a:off x="5495436" y="3297716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37" name="Google Shape;637;p24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8" name="Google Shape;638;p24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39" name="Google Shape;639;p24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0" name="Google Shape;640;p24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1" name="Google Shape;641;p24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2" name="Google Shape;642;p24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643" name="Google Shape;643;p24"/>
              <p:cNvGrpSpPr/>
              <p:nvPr/>
            </p:nvGrpSpPr>
            <p:grpSpPr>
              <a:xfrm>
                <a:off x="5495436" y="39388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44" name="Google Shape;644;p24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5" name="Google Shape;645;p24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6" name="Google Shape;646;p24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7" name="Google Shape;647;p24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8" name="Google Shape;648;p24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49" name="Google Shape;649;p24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650" name="Google Shape;650;p24"/>
              <p:cNvGrpSpPr/>
              <p:nvPr/>
            </p:nvGrpSpPr>
            <p:grpSpPr>
              <a:xfrm>
                <a:off x="5495436" y="4586870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51" name="Google Shape;651;p24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2" name="Google Shape;652;p24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3" name="Google Shape;653;p24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4" name="Google Shape;654;p24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5" name="Google Shape;655;p24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6" name="Google Shape;656;p24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657" name="Google Shape;657;p24"/>
              <p:cNvGrpSpPr/>
              <p:nvPr/>
            </p:nvGrpSpPr>
            <p:grpSpPr>
              <a:xfrm>
                <a:off x="5495436" y="5234795"/>
                <a:ext cx="5858364" cy="650928"/>
                <a:chOff x="5495436" y="2649741"/>
                <a:chExt cx="5858364" cy="650928"/>
              </a:xfrm>
            </p:grpSpPr>
            <p:sp>
              <p:nvSpPr>
                <p:cNvPr id="658" name="Google Shape;658;p24"/>
                <p:cNvSpPr/>
                <p:nvPr/>
              </p:nvSpPr>
              <p:spPr>
                <a:xfrm>
                  <a:off x="549543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59" name="Google Shape;659;p24"/>
                <p:cNvSpPr/>
                <p:nvPr/>
              </p:nvSpPr>
              <p:spPr>
                <a:xfrm>
                  <a:off x="6471830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0" name="Google Shape;660;p24"/>
                <p:cNvSpPr/>
                <p:nvPr/>
              </p:nvSpPr>
              <p:spPr>
                <a:xfrm>
                  <a:off x="7448224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1" name="Google Shape;661;p24"/>
                <p:cNvSpPr/>
                <p:nvPr/>
              </p:nvSpPr>
              <p:spPr>
                <a:xfrm>
                  <a:off x="8424618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2" name="Google Shape;662;p24"/>
                <p:cNvSpPr/>
                <p:nvPr/>
              </p:nvSpPr>
              <p:spPr>
                <a:xfrm>
                  <a:off x="9401012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3" name="Google Shape;663;p24"/>
                <p:cNvSpPr/>
                <p:nvPr/>
              </p:nvSpPr>
              <p:spPr>
                <a:xfrm>
                  <a:off x="10377406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grpSp>
          <p:nvGrpSpPr>
            <p:cNvPr id="664" name="Google Shape;664;p24"/>
            <p:cNvGrpSpPr/>
            <p:nvPr/>
          </p:nvGrpSpPr>
          <p:grpSpPr>
            <a:xfrm>
              <a:off x="5271156" y="3065855"/>
              <a:ext cx="1005165" cy="2239242"/>
              <a:chOff x="3746992" y="2577560"/>
              <a:chExt cx="1545057" cy="3308163"/>
            </a:xfrm>
          </p:grpSpPr>
          <p:sp>
            <p:nvSpPr>
              <p:cNvPr id="665" name="Google Shape;665;p24"/>
              <p:cNvSpPr txBox="1"/>
              <p:nvPr/>
            </p:nvSpPr>
            <p:spPr>
              <a:xfrm rot="-5400000">
                <a:off x="2783232" y="3541320"/>
                <a:ext cx="2495227" cy="567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-CL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ciudades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66" name="Google Shape;666;p24"/>
              <p:cNvGrpSpPr/>
              <p:nvPr/>
            </p:nvGrpSpPr>
            <p:grpSpPr>
              <a:xfrm>
                <a:off x="4315655" y="2649741"/>
                <a:ext cx="976394" cy="3235982"/>
                <a:chOff x="4315655" y="2649741"/>
                <a:chExt cx="976394" cy="3235982"/>
              </a:xfrm>
            </p:grpSpPr>
            <p:sp>
              <p:nvSpPr>
                <p:cNvPr id="667" name="Google Shape;667;p24"/>
                <p:cNvSpPr/>
                <p:nvPr/>
              </p:nvSpPr>
              <p:spPr>
                <a:xfrm>
                  <a:off x="4315655" y="2649741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8" name="Google Shape;668;p24"/>
                <p:cNvSpPr/>
                <p:nvPr/>
              </p:nvSpPr>
              <p:spPr>
                <a:xfrm>
                  <a:off x="4315655" y="3297716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69" name="Google Shape;669;p24"/>
                <p:cNvSpPr/>
                <p:nvPr/>
              </p:nvSpPr>
              <p:spPr>
                <a:xfrm>
                  <a:off x="4315655" y="39388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70" name="Google Shape;670;p24"/>
                <p:cNvSpPr/>
                <p:nvPr/>
              </p:nvSpPr>
              <p:spPr>
                <a:xfrm>
                  <a:off x="4315655" y="4586870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671" name="Google Shape;671;p24"/>
                <p:cNvSpPr/>
                <p:nvPr/>
              </p:nvSpPr>
              <p:spPr>
                <a:xfrm>
                  <a:off x="4315655" y="5234795"/>
                  <a:ext cx="976394" cy="65092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0045B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1" i="0" sz="1800" u="none" cap="none" strike="noStrike">
                    <a:solidFill>
                      <a:schemeClr val="accent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Trabajo autónomo mínimo</a:t>
            </a:r>
            <a:endParaRPr/>
          </a:p>
        </p:txBody>
      </p:sp>
      <p:sp>
        <p:nvSpPr>
          <p:cNvPr id="677" name="Google Shape;677;p25"/>
          <p:cNvSpPr txBox="1"/>
          <p:nvPr/>
        </p:nvSpPr>
        <p:spPr>
          <a:xfrm>
            <a:off x="1112989" y="615954"/>
            <a:ext cx="1450077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9 libro guía.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problemas 56, 57, 61, 65, 74.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